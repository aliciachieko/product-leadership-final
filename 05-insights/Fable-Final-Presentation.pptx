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3200400"/>
          </a:xfrm>
          <a:prstGeom prst="rect">
            <a:avLst/>
          </a:prstGeom>
          <a:solidFill>
            <a:srgbClr val="4A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99B5F"/>
                </a:solidFill>
                <a:latin typeface="Arial"/>
              </a:rPr>
              <a:t>PRODUCT LEADERSHIP FINAL PROJECT  ·  FABLE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 i="0">
                <a:solidFill>
                  <a:srgbClr val="FFFFFF"/>
                </a:solidFill>
                <a:latin typeface="Georgia"/>
              </a:rPr>
              <a:t>The Second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 i="1">
                <a:solidFill>
                  <a:srgbClr val="FFFFFF"/>
                </a:solidFill>
                <a:latin typeface="Georgia"/>
              </a:rPr>
              <a:t>Retaining Fable Users Beyond Recovery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E8DFEF"/>
                </a:solidFill>
                <a:latin typeface="Arial"/>
              </a:rPr>
              <a:t>We retain users after their acute need is resolved — by building confidence, proactive action, and successful re-engagement.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C5666"/>
                </a:solidFill>
                <a:latin typeface="Arial"/>
              </a:rPr>
              <a:t>Alicia Wong  ·  Core Product Lead, Post-Acute Retention Pod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99B5F"/>
                </a:solidFill>
                <a:latin typeface="Arial"/>
              </a:rPr>
              <a:t>MODULE 1 · PRODUCT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4A3357"/>
                </a:solidFill>
                <a:latin typeface="Georgia"/>
              </a:rPr>
              <a:t>Playing to Win: the post-acute moment is the 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1091672" cy="31750"/>
          </a:xfrm>
          <a:prstGeom prst="rect">
            <a:avLst/>
          </a:prstGeom>
          <a:solidFill>
            <a:srgbClr val="C99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667512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6217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99B5F"/>
                </a:solidFill>
                <a:latin typeface="Arial"/>
              </a:rPr>
              <a:t>THE CASCADE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6263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231F2E"/>
                </a:solidFill>
                <a:latin typeface="Arial"/>
              </a:rPr>
              <a:t>•  Winning aspiration — </a:t>
            </a:r>
            <a:r>
              <a:rPr sz="1250">
                <a:solidFill>
                  <a:srgbClr val="231F2E"/>
                </a:solidFill>
                <a:latin typeface="Arial"/>
              </a:rPr>
              <a:t>users feel stronger, more self-aware, and more capable, whether they open Fable daily or only when it matters most.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31F2E"/>
                </a:solidFill>
                <a:latin typeface="Arial"/>
              </a:rPr>
              <a:t>•  Where to play — </a:t>
            </a:r>
            <a:r>
              <a:rPr sz="1250">
                <a:solidFill>
                  <a:srgbClr val="231F2E"/>
                </a:solidFill>
                <a:latin typeface="Arial"/>
              </a:rPr>
              <a:t>digitally comfortable adults, in established markets, who have emerged from an acute episode of anxiety or stress and want to protect their progress.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31F2E"/>
                </a:solidFill>
                <a:latin typeface="Arial"/>
              </a:rPr>
              <a:t>•  How to win — </a:t>
            </a:r>
            <a:r>
              <a:rPr sz="1250">
                <a:solidFill>
                  <a:srgbClr val="231F2E"/>
                </a:solidFill>
                <a:latin typeface="Arial"/>
              </a:rPr>
              <a:t>become the most trusted source of personal wellness knowledge in a user's life. Features can be copied; a longitudinal, trusted wellness memory cannot.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31F2E"/>
                </a:solidFill>
                <a:latin typeface="Arial"/>
              </a:rPr>
              <a:t>•  Capabilities — </a:t>
            </a:r>
            <a:r>
              <a:rPr sz="1250">
                <a:solidFill>
                  <a:srgbClr val="231F2E"/>
                </a:solidFill>
                <a:latin typeface="Arial"/>
              </a:rPr>
              <a:t>build wellness intelligence, trusted AI guidance, behavioral science, privacy, outcomes measurement. Partner for clinical; buy commodity infrastructure.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554480"/>
            <a:ext cx="4187952" cy="2834640"/>
          </a:xfrm>
          <a:prstGeom prst="roundRect">
            <a:avLst>
              <a:gd name="adj" fmla="val 6000"/>
            </a:avLst>
          </a:prstGeom>
          <a:solidFill>
            <a:srgbClr val="4A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737360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99B5F"/>
                </a:solidFill>
                <a:latin typeface="Arial"/>
              </a:rPr>
              <a:t>THE ONE HARD 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03120"/>
            <a:ext cx="3749039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Fable will not optimize for engagement — even when doing so would accelerate growth.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520440"/>
            <a:ext cx="374903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E8DFEF"/>
                </a:solidFill>
                <a:latin typeface="Arial"/>
              </a:rPr>
              <a:t>Engagement mechanics create dependence. This strategy only works if users grow more resilient — including when they open Fable less.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617720"/>
            <a:ext cx="1109167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75488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99B5F"/>
                </a:solidFill>
                <a:latin typeface="Arial"/>
              </a:rPr>
              <a:t>OKR CASCADE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04748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4A3357"/>
                </a:solidFill>
                <a:latin typeface="Arial"/>
              </a:rPr>
              <a:t>Objective: Enable users to sustain well-being after the acute phase — building confidence, self-awareness, and resilience without increasing dependence on Fable.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96128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231F2E"/>
                </a:solidFill>
                <a:latin typeface="Arial"/>
              </a:rPr>
              <a:t>•  KR1  Confidence: </a:t>
            </a:r>
            <a:r>
              <a:rPr sz="1300">
                <a:solidFill>
                  <a:srgbClr val="231F2E"/>
                </a:solidFill>
                <a:latin typeface="Arial"/>
              </a:rPr>
              <a:t>42% → 65%   ·   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231F2E"/>
                </a:solidFill>
                <a:latin typeface="Arial"/>
              </a:rPr>
              <a:t>•  KR2  Proactive action: </a:t>
            </a:r>
            <a:r>
              <a:rPr sz="1300">
                <a:solidFill>
                  <a:srgbClr val="231F2E"/>
                </a:solidFill>
                <a:latin typeface="Arial"/>
              </a:rPr>
              <a:t>25% → 50%   ·   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231F2E"/>
                </a:solidFill>
                <a:latin typeface="Arial"/>
              </a:rPr>
              <a:t>•  KR3  Successful re-engagement: </a:t>
            </a:r>
            <a:r>
              <a:rPr sz="1300">
                <a:solidFill>
                  <a:srgbClr val="231F2E"/>
                </a:solidFill>
                <a:latin typeface="Arial"/>
              </a:rPr>
              <a:t>30% → 55%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99B5F"/>
                </a:solidFill>
                <a:latin typeface="Arial"/>
              </a:rPr>
              <a:t>MODULE 2 · OUTCOME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4A3357"/>
                </a:solidFill>
                <a:latin typeface="Georgia"/>
              </a:rPr>
              <a:t>Bets sequenced by outcome, not by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1091672" cy="31750"/>
          </a:xfrm>
          <a:prstGeom prst="rect">
            <a:avLst/>
          </a:prstGeom>
          <a:solidFill>
            <a:srgbClr val="C99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84448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9164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6D4C7D"/>
                </a:solidFill>
                <a:latin typeface="Arial"/>
              </a:rPr>
              <a:t>NOW · 0–3 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3200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231F2E"/>
                </a:solidFill>
                <a:latin typeface="Arial"/>
              </a:rPr>
              <a:t>•  Support at the right moment</a:t>
            </a:r>
            <a:r>
              <a:rPr sz="1200">
                <a:solidFill>
                  <a:srgbClr val="231F2E"/>
                </a:solidFill>
                <a:latin typeface="Arial"/>
              </a:rPr>
              <a:t> — re-engagement, KR3 30% → 55% (PM2)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31F2E"/>
                </a:solidFill>
                <a:latin typeface="Arial"/>
              </a:rPr>
              <a:t>•  Guidance grounded in personal history</a:t>
            </a:r>
            <a:r>
              <a:rPr sz="1200">
                <a:solidFill>
                  <a:srgbClr val="231F2E"/>
                </a:solidFill>
                <a:latin typeface="Arial"/>
              </a:rPr>
              <a:t> — confidence + proactive action, KR1/KR2 (PM3)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31F2E"/>
                </a:solidFill>
                <a:latin typeface="Arial"/>
              </a:rPr>
              <a:t>•  Value beyond acute recovery</a:t>
            </a:r>
            <a:r>
              <a:rPr sz="1200">
                <a:solidFill>
                  <a:srgbClr val="231F2E"/>
                </a:solidFill>
                <a:latin typeface="Arial"/>
              </a:rPr>
              <a:t> — long-term return behavior, KR3 (PM2)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6824" y="1554480"/>
            <a:ext cx="3584448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07992" y="169164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6D4C7D"/>
                </a:solidFill>
                <a:latin typeface="Arial"/>
              </a:rPr>
              <a:t>NEXT · 3–6 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057400"/>
            <a:ext cx="3200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231F2E"/>
                </a:solidFill>
                <a:latin typeface="Arial"/>
              </a:rPr>
              <a:t>•  Smoother acute → resilience transition</a:t>
            </a:r>
            <a:r>
              <a:rPr sz="1200">
                <a:solidFill>
                  <a:srgbClr val="231F2E"/>
                </a:solidFill>
                <a:latin typeface="Arial"/>
              </a:rPr>
              <a:t> — long-term retention (PM2)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31F2E"/>
                </a:solidFill>
                <a:latin typeface="Arial"/>
              </a:rPr>
              <a:t>•  Earlier pattern detection</a:t>
            </a:r>
            <a:r>
              <a:rPr sz="1200">
                <a:solidFill>
                  <a:srgbClr val="231F2E"/>
                </a:solidFill>
                <a:latin typeface="Arial"/>
              </a:rPr>
              <a:t> — intervene before users are overwhelmed, KR2 (PM3)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31F2E"/>
                </a:solidFill>
                <a:latin typeface="Arial"/>
              </a:rPr>
              <a:t>•  Lightweight companion experiences</a:t>
            </a:r>
            <a:r>
              <a:rPr sz="1200">
                <a:solidFill>
                  <a:srgbClr val="231F2E"/>
                </a:solidFill>
                <a:latin typeface="Arial"/>
              </a:rPr>
              <a:t> — re-engagement without dependency, KR3 (PM2)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554480"/>
            <a:ext cx="3584448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6176" y="169164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6D4C7D"/>
                </a:solidFill>
                <a:latin typeface="Arial"/>
              </a:rPr>
              <a:t>LATER · 6–12 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6176" y="2057400"/>
            <a:ext cx="3200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231F2E"/>
                </a:solidFill>
                <a:latin typeface="Arial"/>
              </a:rPr>
              <a:t>•  Professional support at the right moments</a:t>
            </a:r>
            <a:r>
              <a:rPr sz="1200">
                <a:solidFill>
                  <a:srgbClr val="231F2E"/>
                </a:solidFill>
                <a:latin typeface="Arial"/>
              </a:rPr>
              <a:t> — via partners, for needs beyond self-guided (PM3)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31F2E"/>
                </a:solidFill>
                <a:latin typeface="Arial"/>
              </a:rPr>
              <a:t>•  Wearable signals</a:t>
            </a:r>
            <a:r>
              <a:rPr sz="1200">
                <a:solidFill>
                  <a:srgbClr val="231F2E"/>
                </a:solidFill>
                <a:latin typeface="Arial"/>
              </a:rPr>
              <a:t> — earlier recognition of well-being changes (PM3)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31F2E"/>
                </a:solidFill>
                <a:latin typeface="Arial"/>
              </a:rPr>
              <a:t>•  International expansion</a:t>
            </a:r>
            <a:r>
              <a:rPr sz="1200">
                <a:solidFill>
                  <a:srgbClr val="231F2E"/>
                </a:solidFill>
                <a:latin typeface="Arial"/>
              </a:rPr>
              <a:t> — only once the retention model is proven in core markets (PM2)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480560"/>
            <a:ext cx="1109167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61772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99B5F"/>
                </a:solidFill>
                <a:latin typeface="Arial"/>
              </a:rPr>
              <a:t>TRADE-OFFS WE DEFENDED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56048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231F2E"/>
                </a:solidFill>
                <a:latin typeface="Arial"/>
              </a:rPr>
              <a:t>•  Sequenced first: </a:t>
            </a:r>
            <a:r>
              <a:rPr sz="1250">
                <a:solidFill>
                  <a:srgbClr val="231F2E"/>
                </a:solidFill>
                <a:latin typeface="Arial"/>
              </a:rPr>
              <a:t>fix notifications (Rock #1) → AI check-in prompts personalized to user history (Rock #2, the big bet) → onboarding redesign on the 40% drop-off data (Rock #3).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31F2E"/>
                </a:solidFill>
                <a:latin typeface="Arial"/>
              </a:rPr>
              <a:t>•  Cut entirely: </a:t>
            </a:r>
            <a:r>
              <a:rPr sz="1250">
                <a:solidFill>
                  <a:srgbClr val="231F2E"/>
                </a:solidFill>
                <a:latin typeface="Arial"/>
              </a:rPr>
              <a:t>daily streaks (engagement, not resilience) · content library (a crowded market that doesn't test our hypothesis) · Fable for Teams (a new buyer and business model before the core model is proven).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99B5F"/>
                </a:solidFill>
                <a:latin typeface="Arial"/>
              </a:rPr>
              <a:t>MODULE 3 · TEAM CHARTER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4A3357"/>
                </a:solidFill>
                <a:latin typeface="Georgia"/>
              </a:rPr>
              <a:t>What we own, and how we decide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1091672" cy="31750"/>
          </a:xfrm>
          <a:prstGeom prst="rect">
            <a:avLst/>
          </a:prstGeom>
          <a:solidFill>
            <a:srgbClr val="C99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4A3357"/>
                </a:solidFill>
                <a:latin typeface="Arial"/>
              </a:rPr>
              <a:t>Mission: We retain users after their acute need is resolved by building confidence (KR1), proactive action (KR2), and successful re-engagement (KR3).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54406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99B5F"/>
                </a:solidFill>
                <a:latin typeface="Arial"/>
              </a:rPr>
              <a:t>WHAT WE 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78608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231F2E"/>
                </a:solidFill>
                <a:latin typeface="Arial"/>
              </a:rPr>
              <a:t>•  Post-Acute Retention Strategy</a:t>
            </a:r>
            <a:r>
              <a:rPr sz="1250">
                <a:solidFill>
                  <a:srgbClr val="231F2E"/>
                </a:solidFill>
                <a:latin typeface="Arial"/>
              </a:rPr>
              <a:t> — roadmap and OKRs for KR1–KR3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31F2E"/>
                </a:solidFill>
                <a:latin typeface="Arial"/>
              </a:rPr>
              <a:t>•  PM1 · Onboarding</a:t>
            </a:r>
            <a:r>
              <a:rPr sz="1250">
                <a:solidFill>
                  <a:srgbClr val="231F2E"/>
                </a:solidFill>
                <a:latin typeface="Arial"/>
              </a:rPr>
              <a:t> — activation and the onboarding experience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31F2E"/>
                </a:solidFill>
                <a:latin typeface="Arial"/>
              </a:rPr>
              <a:t>•  PM2 · Retention</a:t>
            </a:r>
            <a:r>
              <a:rPr sz="1250">
                <a:solidFill>
                  <a:srgbClr val="231F2E"/>
                </a:solidFill>
                <a:latin typeface="Arial"/>
              </a:rPr>
              <a:t> — re-engagement journeys and notification strategy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31F2E"/>
                </a:solidFill>
                <a:latin typeface="Arial"/>
              </a:rPr>
              <a:t>•  PM3 · AI Check-ins</a:t>
            </a:r>
            <a:r>
              <a:rPr sz="1250">
                <a:solidFill>
                  <a:srgbClr val="231F2E"/>
                </a:solidFill>
                <a:latin typeface="Arial"/>
              </a:rPr>
              <a:t> — personalization engine and wellness memory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103120"/>
            <a:ext cx="54406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224028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99B5F"/>
                </a:solidFill>
                <a:latin typeface="Arial"/>
              </a:rPr>
              <a:t>OUT OF SCOPE — BY 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578608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231F2E"/>
                </a:solidFill>
                <a:latin typeface="Arial"/>
              </a:rPr>
              <a:t>•  Engagement-first growth</a:t>
            </a:r>
            <a:r>
              <a:rPr sz="1250">
                <a:solidFill>
                  <a:srgbClr val="231F2E"/>
                </a:solidFill>
                <a:latin typeface="Arial"/>
              </a:rPr>
              <a:t> — DAU, streaks, session frequency, pressure loops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31F2E"/>
                </a:solidFill>
                <a:latin typeface="Arial"/>
              </a:rPr>
              <a:t>•  Content platform bets</a:t>
            </a:r>
            <a:r>
              <a:rPr sz="1250">
                <a:solidFill>
                  <a:srgbClr val="231F2E"/>
                </a:solidFill>
                <a:latin typeface="Arial"/>
              </a:rPr>
              <a:t> and clinical care delivery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31F2E"/>
                </a:solidFill>
                <a:latin typeface="Arial"/>
              </a:rPr>
              <a:t>•  B2B / employer products</a:t>
            </a:r>
            <a:r>
              <a:rPr sz="1250">
                <a:solidFill>
                  <a:srgbClr val="231F2E"/>
                </a:solidFill>
                <a:latin typeface="Arial"/>
              </a:rPr>
              <a:t> and new-market expansion untested by the retention model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31F2E"/>
                </a:solidFill>
                <a:latin typeface="Arial"/>
              </a:rPr>
              <a:t>•  Platform expansion for its own sake</a:t>
            </a:r>
            <a:r>
              <a:rPr sz="1250">
                <a:solidFill>
                  <a:srgbClr val="231F2E"/>
                </a:solidFill>
                <a:latin typeface="Arial"/>
              </a:rPr>
              <a:t> — web, wearables, integrations without KR evidence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617720"/>
            <a:ext cx="11091672" cy="1783080"/>
          </a:xfrm>
          <a:prstGeom prst="roundRect">
            <a:avLst>
              <a:gd name="adj" fmla="val 6000"/>
            </a:avLst>
          </a:prstGeom>
          <a:solidFill>
            <a:srgbClr val="4A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75488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99B5F"/>
                </a:solidFill>
                <a:latin typeface="Arial"/>
              </a:rPr>
              <a:t>HOW WE DECIDE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074920"/>
            <a:ext cx="10607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•  Default: </a:t>
            </a:r>
            <a:r>
              <a:rPr sz="1250">
                <a:solidFill>
                  <a:srgbClr val="FFFFFF"/>
                </a:solidFill>
                <a:latin typeface="Arial"/>
              </a:rPr>
              <a:t>PMs decide collaboratively or defer to the correct PM; unresolved calls escalate to the Core Product Lead — decision within 3 business days (1 week if quarterly commitments are affected).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•  Joint calls: </a:t>
            </a:r>
            <a:r>
              <a:rPr sz="1250">
                <a:solidFill>
                  <a:srgbClr val="FFFFFF"/>
                </a:solidFill>
                <a:latin typeface="Arial"/>
              </a:rPr>
              <a:t>anything touching wellness memory, user data, or personalization rules — all three PMs, with Privacy and Legal. Safety, legal, and regulatory requirements are non-negotiable.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99B5F"/>
                </a:solidFill>
                <a:latin typeface="Arial"/>
              </a:rPr>
              <a:t>MODULE 5 · FINANCIAL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4A3357"/>
                </a:solidFill>
                <a:latin typeface="Georgia"/>
              </a:rPr>
              <a:t>The bet: monetize the asset only Fable has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1091672" cy="31750"/>
          </a:xfrm>
          <a:prstGeom prst="rect">
            <a:avLst/>
          </a:prstGeom>
          <a:solidFill>
            <a:srgbClr val="C99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916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31F2E"/>
                </a:solidFill>
                <a:latin typeface="Arial"/>
              </a:rPr>
              <a:t>Generic wellness advice is free from every competitor. The alternatives don't fix the leak — acquisition pours users into the same bucket at $54 a head, and human coaching personalizes but can't scale. Rock #2 (personalized support using wellness memory) raises the value of users we already paid to acquire.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240280"/>
          <a:ext cx="1109167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057400"/>
                <a:gridCol w="2331720"/>
                <a:gridCol w="2514600"/>
                <a:gridCol w="1417320"/>
                <a:gridCol w="1170432"/>
              </a:tblGrid>
              <a:tr h="777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CAC</a:t>
                      </a:r>
                    </a:p>
                  </a:txBody>
                  <a:tcPr>
                    <a:solidFill>
                      <a:srgbClr val="6D4C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LTV</a:t>
                      </a:r>
                    </a:p>
                  </a:txBody>
                  <a:tcPr>
                    <a:solidFill>
                      <a:srgbClr val="6D4C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Investment</a:t>
                      </a:r>
                    </a:p>
                  </a:txBody>
                  <a:tcPr>
                    <a:solidFill>
                      <a:srgbClr val="6D4C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Expected return</a:t>
                      </a:r>
                    </a:p>
                  </a:txBody>
                  <a:tcPr>
                    <a:solidFill>
                      <a:srgbClr val="6D4C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Payback</a:t>
                      </a:r>
                    </a:p>
                  </a:txBody>
                  <a:tcPr>
                    <a:solidFill>
                      <a:srgbClr val="6D4C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Return multiple</a:t>
                      </a:r>
                    </a:p>
                  </a:txBody>
                  <a:tcPr>
                    <a:solidFill>
                      <a:srgbClr val="6D4C7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31F2E"/>
                          </a:solidFill>
                          <a:latin typeface="Arial"/>
                        </a:rPr>
                        <a:t>$54 — unchanged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31F2E"/>
                          </a:solidFill>
                          <a:latin typeface="Arial"/>
                        </a:rPr>
                        <a:t>$118 → $171 (+45%)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31F2E"/>
                          </a:solidFill>
                          <a:latin typeface="Arial"/>
                        </a:rPr>
                        <a:t>$210K — one quarter of the pod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31F2E"/>
                          </a:solidFill>
                          <a:latin typeface="Arial"/>
                        </a:rPr>
                        <a:t>~$690K incremental annual 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31F2E"/>
                          </a:solidFill>
                          <a:latin typeface="Arial"/>
                        </a:rPr>
                        <a:t>Within ~2 quarters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31F2E"/>
                          </a:solidFill>
                          <a:latin typeface="Arial"/>
                        </a:rPr>
                        <a:t>~3.3× first-year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950208"/>
            <a:ext cx="1109167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1">
                <a:solidFill>
                  <a:srgbClr val="5C5666"/>
                </a:solidFill>
                <a:latin typeface="Arial"/>
              </a:rPr>
              <a:t>Modeled assumptions, flagged as such: ~52,000 users/year complete an acute episode; a 25-point re-engagement lift ≈ 13,000 additional retained users × $53 LTV lift. AI inference ≈ $0.90 per active user/month.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34840"/>
            <a:ext cx="110916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99B5F"/>
                </a:solidFill>
                <a:latin typeface="Arial"/>
              </a:rPr>
              <a:t>KILL CRITERIA — WRITTEN BEFORE LAUNCH, NOT NEGOTIATED AFTER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10328"/>
            <a:ext cx="10607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 b="1">
                <a:solidFill>
                  <a:srgbClr val="231F2E"/>
                </a:solidFill>
                <a:latin typeface="Arial"/>
              </a:rPr>
              <a:t>•  KR1 below 52% by June 30, 2027 → </a:t>
            </a:r>
            <a:r>
              <a:rPr sz="1250">
                <a:solidFill>
                  <a:srgbClr val="231F2E"/>
                </a:solidFill>
                <a:latin typeface="Arial"/>
              </a:rPr>
              <a:t>stop personalization development; revert to the standard check-in cadence.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31F2E"/>
                </a:solidFill>
                <a:latin typeface="Arial"/>
              </a:rPr>
              <a:t>•  KR2 below 35% by June 30, 2027 → </a:t>
            </a:r>
            <a:r>
              <a:rPr sz="1250">
                <a:solidFill>
                  <a:srgbClr val="231F2E"/>
                </a:solidFill>
                <a:latin typeface="Arial"/>
              </a:rPr>
              <a:t>kill AI-generated prompts; redirect the pod to Rock #1 (re-engagement timing).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31F2E"/>
                </a:solidFill>
                <a:latin typeface="Arial"/>
              </a:rPr>
              <a:t>•  KR3 up fewer than 5 points by September 30, 2027 → </a:t>
            </a:r>
            <a:r>
              <a:rPr sz="1250">
                <a:solidFill>
                  <a:srgbClr val="231F2E"/>
                </a:solidFill>
                <a:latin typeface="Arial"/>
              </a:rPr>
              <a:t>stop funding this rock; reallocate the pod to the next strategic bet.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31F2E"/>
                </a:solidFill>
                <a:latin typeface="Arial"/>
              </a:rPr>
              <a:t>•  Guardrail, overrides everything: </a:t>
            </a:r>
            <a:r>
              <a:rPr sz="1250">
                <a:solidFill>
                  <a:srgbClr val="231F2E"/>
                </a:solidFill>
                <a:latin typeface="Arial"/>
              </a:rPr>
              <a:t>complaints or opt-outs above 2% in any month pause the AI prompts immediately.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99B5F"/>
                </a:solidFill>
                <a:latin typeface="Arial"/>
              </a:rPr>
              <a:t>MODULE 6 · INDIVIDUAL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4A3357"/>
                </a:solidFill>
                <a:latin typeface="Georgia"/>
              </a:rPr>
              <a:t>What building this strategy changed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1091672" cy="31750"/>
          </a:xfrm>
          <a:prstGeom prst="rect">
            <a:avLst/>
          </a:prstGeom>
          <a:solidFill>
            <a:srgbClr val="C99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40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99B5F"/>
                </a:solidFill>
                <a:latin typeface="Arial"/>
              </a:rPr>
              <a:t>FRICTION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29968"/>
            <a:ext cx="49834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31F2E"/>
                </a:solidFill>
                <a:latin typeface="Arial"/>
              </a:rPr>
              <a:t>The hardest part wasn't the strategy — it was turning “we collaborate” into decision rules that survive a real disagreement.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31F2E"/>
                </a:solidFill>
                <a:latin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31F2E"/>
                </a:solidFill>
                <a:latin typeface="Arial"/>
              </a:rPr>
              <a:t>The mission one-liner was the last blank in the charter. I worked through it by forcing one row per decision, a named default rule, and clocks on every escalation.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31F2E"/>
                </a:solidFill>
                <a:latin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31F2E"/>
                </a:solidFill>
                <a:latin typeface="Arial"/>
              </a:rPr>
              <a:t>The AI pressure test caught my KR3 measuring an output in disguise — it is now an outcome: successful re-engagement.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54480"/>
            <a:ext cx="5440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69164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99B5F"/>
                </a:solidFill>
                <a:latin typeface="Arial"/>
              </a:rPr>
              <a:t>KEY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029968"/>
            <a:ext cx="49834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31F2E"/>
                </a:solidFill>
                <a:latin typeface="Arial"/>
              </a:rPr>
              <a:t>A charter is an operating tool, not documentation.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31F2E"/>
                </a:solidFill>
                <a:latin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31F2E"/>
                </a:solidFill>
                <a:latin typeface="Arial"/>
              </a:rPr>
              <a:t>I used to treat it as paperwork that follows the real decisions. This project reversed that: the charter's decision rules are the thing that makes every later decision faster.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31F2E"/>
                </a:solidFill>
                <a:latin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31F2E"/>
                </a:solidFill>
                <a:latin typeface="Arial"/>
              </a:rPr>
              <a:t>Same discipline everywhere: kill criteria written with the business case, modeled numbers flagged as modeled, and AI used as the devil's advocate before the room does it for you.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00600"/>
            <a:ext cx="11091672" cy="1600200"/>
          </a:xfrm>
          <a:prstGeom prst="roundRect">
            <a:avLst>
              <a:gd name="adj" fmla="val 6000"/>
            </a:avLst>
          </a:prstGeom>
          <a:solidFill>
            <a:srgbClr val="4A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56048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99B5F"/>
                </a:solidFill>
                <a:latin typeface="Arial"/>
              </a:rPr>
              <a:t>THE AHA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85232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Churn is a success problem, not a failure problem. Users don't leave Fable because it failed — they leave because it worked. The acute need ends, and so does the relationship. That one realization reorganized the entire strategy around the moment after success.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