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47088"/>
            <a:ext cx="12191695" cy="3200400"/>
          </a:xfrm>
          <a:prstGeom prst="rect">
            <a:avLst/>
          </a:prstGeom>
          <a:solidFill>
            <a:srgbClr val="4A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85800"/>
            <a:ext cx="10515600" cy="365760"/>
          </a:xfrm>
          <a:prstGeom prst="rect">
            <a:avLst/>
          </a:prstGeom>
          <a:noFill/>
        </p:spPr>
        <p:txBody>
          <a:bodyPr wrap="square" anchor="t">
            <a:spAutoFit/>
          </a:bodyPr>
          <a:lstStyle/>
          <a:p>
            <a:pPr algn="l">
              <a:spcAft>
                <a:spcPts val="400"/>
              </a:spcAft>
            </a:pPr>
            <a:r>
              <a:rPr sz="1300" b="1" i="0">
                <a:solidFill>
                  <a:srgbClr val="C99B5F"/>
                </a:solidFill>
                <a:latin typeface="Arial"/>
              </a:rPr>
              <a:t>PRODUCT LEADERSHIP FINAL PROJECT  ·  FABLE</a:t>
            </a:r>
          </a:p>
        </p:txBody>
      </p:sp>
      <p:sp>
        <p:nvSpPr>
          <p:cNvPr id="5" name="TextBox 4"/>
          <p:cNvSpPr txBox="1"/>
          <p:nvPr/>
        </p:nvSpPr>
        <p:spPr>
          <a:xfrm>
            <a:off x="822960" y="2240280"/>
            <a:ext cx="10515600" cy="1737360"/>
          </a:xfrm>
          <a:prstGeom prst="rect">
            <a:avLst/>
          </a:prstGeom>
          <a:noFill/>
        </p:spPr>
        <p:txBody>
          <a:bodyPr wrap="square" anchor="t">
            <a:spAutoFit/>
          </a:bodyPr>
          <a:lstStyle/>
          <a:p>
            <a:pPr algn="l">
              <a:spcAft>
                <a:spcPts val="400"/>
              </a:spcAft>
            </a:pPr>
            <a:r>
              <a:rPr sz="5400" b="1" i="0">
                <a:solidFill>
                  <a:srgbClr val="FFFFFF"/>
                </a:solidFill>
                <a:latin typeface="Georgia"/>
              </a:rPr>
              <a:t>The Second Journey</a:t>
            </a:r>
          </a:p>
        </p:txBody>
      </p:sp>
      <p:sp>
        <p:nvSpPr>
          <p:cNvPr id="6" name="TextBox 5"/>
          <p:cNvSpPr txBox="1"/>
          <p:nvPr/>
        </p:nvSpPr>
        <p:spPr>
          <a:xfrm>
            <a:off x="822960" y="3246120"/>
            <a:ext cx="10515600" cy="822960"/>
          </a:xfrm>
          <a:prstGeom prst="rect">
            <a:avLst/>
          </a:prstGeom>
          <a:noFill/>
        </p:spPr>
        <p:txBody>
          <a:bodyPr wrap="square" anchor="t">
            <a:spAutoFit/>
          </a:bodyPr>
          <a:lstStyle/>
          <a:p>
            <a:pPr algn="l">
              <a:spcAft>
                <a:spcPts val="400"/>
              </a:spcAft>
            </a:pPr>
            <a:r>
              <a:rPr sz="3000" b="0" i="1">
                <a:solidFill>
                  <a:srgbClr val="FFFFFF"/>
                </a:solidFill>
                <a:latin typeface="Georgia"/>
              </a:rPr>
              <a:t>Retaining Fable Users Beyond Recovery</a:t>
            </a:r>
          </a:p>
        </p:txBody>
      </p:sp>
      <p:sp>
        <p:nvSpPr>
          <p:cNvPr id="7" name="TextBox 6"/>
          <p:cNvSpPr txBox="1"/>
          <p:nvPr/>
        </p:nvSpPr>
        <p:spPr>
          <a:xfrm>
            <a:off x="822960" y="4343400"/>
            <a:ext cx="10515600" cy="457200"/>
          </a:xfrm>
          <a:prstGeom prst="rect">
            <a:avLst/>
          </a:prstGeom>
          <a:noFill/>
        </p:spPr>
        <p:txBody>
          <a:bodyPr wrap="square" anchor="t">
            <a:spAutoFit/>
          </a:bodyPr>
          <a:lstStyle/>
          <a:p>
            <a:pPr algn="l">
              <a:spcAft>
                <a:spcPts val="400"/>
              </a:spcAft>
            </a:pPr>
            <a:r>
              <a:rPr sz="1500" b="0" i="0">
                <a:solidFill>
                  <a:srgbClr val="E8DFEF"/>
                </a:solidFill>
                <a:latin typeface="Arial"/>
              </a:rPr>
              <a:t>We retain users after their acute need is resolved, by building confidence, proactive action, and successful re-engagement.</a:t>
            </a:r>
          </a:p>
        </p:txBody>
      </p:sp>
      <p:sp>
        <p:nvSpPr>
          <p:cNvPr id="8" name="TextBox 7"/>
          <p:cNvSpPr txBox="1"/>
          <p:nvPr/>
        </p:nvSpPr>
        <p:spPr>
          <a:xfrm>
            <a:off x="822960" y="5806440"/>
            <a:ext cx="10515600" cy="365760"/>
          </a:xfrm>
          <a:prstGeom prst="rect">
            <a:avLst/>
          </a:prstGeom>
          <a:noFill/>
        </p:spPr>
        <p:txBody>
          <a:bodyPr wrap="square" anchor="t">
            <a:spAutoFit/>
          </a:bodyPr>
          <a:lstStyle/>
          <a:p>
            <a:pPr algn="l">
              <a:spcAft>
                <a:spcPts val="400"/>
              </a:spcAft>
            </a:pPr>
            <a:r>
              <a:rPr sz="1300" b="0" i="0">
                <a:solidFill>
                  <a:srgbClr val="5C5666"/>
                </a:solidFill>
                <a:latin typeface="Arial"/>
              </a:rPr>
              <a:t>Alicia Wong  ·  Core Product Lead, Post-Acute Retention Pod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320040"/>
          </a:xfrm>
          <a:prstGeom prst="rect">
            <a:avLst/>
          </a:prstGeom>
          <a:noFill/>
        </p:spPr>
        <p:txBody>
          <a:bodyPr wrap="square" anchor="t">
            <a:spAutoFit/>
          </a:bodyPr>
          <a:lstStyle/>
          <a:p>
            <a:pPr algn="l">
              <a:spcAft>
                <a:spcPts val="400"/>
              </a:spcAft>
            </a:pPr>
            <a:r>
              <a:rPr sz="1200" b="1" i="0">
                <a:solidFill>
                  <a:srgbClr val="C99B5F"/>
                </a:solidFill>
                <a:latin typeface="Arial"/>
              </a:rPr>
              <a:t>MODULE 1 · PRODUCT STRATEGY</a:t>
            </a:r>
          </a:p>
        </p:txBody>
      </p:sp>
      <p:sp>
        <p:nvSpPr>
          <p:cNvPr id="4" name="TextBox 3"/>
          <p:cNvSpPr txBox="1"/>
          <p:nvPr/>
        </p:nvSpPr>
        <p:spPr>
          <a:xfrm>
            <a:off x="548640" y="621792"/>
            <a:ext cx="11064240" cy="685800"/>
          </a:xfrm>
          <a:prstGeom prst="rect">
            <a:avLst/>
          </a:prstGeom>
          <a:noFill/>
        </p:spPr>
        <p:txBody>
          <a:bodyPr wrap="square" anchor="t">
            <a:spAutoFit/>
          </a:bodyPr>
          <a:lstStyle/>
          <a:p>
            <a:pPr algn="l">
              <a:spcAft>
                <a:spcPts val="400"/>
              </a:spcAft>
            </a:pPr>
            <a:r>
              <a:rPr sz="3000" b="1" i="0">
                <a:solidFill>
                  <a:srgbClr val="4A3357"/>
                </a:solidFill>
                <a:latin typeface="Georgia"/>
              </a:rPr>
              <a:t>Playing to Win: the post-acute moment is the market</a:t>
            </a:r>
          </a:p>
        </p:txBody>
      </p:sp>
      <p:sp>
        <p:nvSpPr>
          <p:cNvPr id="5" name="Rectangle 4"/>
          <p:cNvSpPr/>
          <p:nvPr/>
        </p:nvSpPr>
        <p:spPr>
          <a:xfrm>
            <a:off x="548640" y="1298448"/>
            <a:ext cx="11091672" cy="31750"/>
          </a:xfrm>
          <a:prstGeom prst="rect">
            <a:avLst/>
          </a:prstGeom>
          <a:solidFill>
            <a:srgbClr val="C99B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554480"/>
            <a:ext cx="6675120" cy="2834640"/>
          </a:xfrm>
          <a:prstGeom prst="roundRect">
            <a:avLst>
              <a:gd name="adj" fmla="val 6000"/>
            </a:avLst>
          </a:prstGeom>
          <a:solidFill>
            <a:srgbClr val="FFFFFF"/>
          </a:solidFill>
          <a:ln w="12700">
            <a:solidFill>
              <a:srgbClr val="DD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6217920" cy="320040"/>
          </a:xfrm>
          <a:prstGeom prst="rect">
            <a:avLst/>
          </a:prstGeom>
          <a:noFill/>
        </p:spPr>
        <p:txBody>
          <a:bodyPr wrap="square" anchor="t">
            <a:spAutoFit/>
          </a:bodyPr>
          <a:lstStyle/>
          <a:p>
            <a:pPr algn="l">
              <a:spcAft>
                <a:spcPts val="400"/>
              </a:spcAft>
            </a:pPr>
            <a:r>
              <a:rPr sz="1100" b="1" i="0">
                <a:solidFill>
                  <a:srgbClr val="C99B5F"/>
                </a:solidFill>
                <a:latin typeface="Arial"/>
              </a:rPr>
              <a:t>THE CASCADE</a:t>
            </a:r>
          </a:p>
        </p:txBody>
      </p:sp>
      <p:sp>
        <p:nvSpPr>
          <p:cNvPr id="8" name="TextBox 7"/>
          <p:cNvSpPr txBox="1"/>
          <p:nvPr/>
        </p:nvSpPr>
        <p:spPr>
          <a:xfrm>
            <a:off x="777240" y="2011680"/>
            <a:ext cx="6263640" cy="2286000"/>
          </a:xfrm>
          <a:prstGeom prst="rect">
            <a:avLst/>
          </a:prstGeom>
          <a:noFill/>
        </p:spPr>
        <p:txBody>
          <a:bodyPr wrap="square">
            <a:spAutoFit/>
          </a:bodyPr>
          <a:lstStyle/>
          <a:p>
            <a:pPr>
              <a:spcAft>
                <a:spcPts val="500"/>
              </a:spcAft>
            </a:pPr>
            <a:r>
              <a:rPr sz="1250" b="1">
                <a:solidFill>
                  <a:srgbClr val="231F2E"/>
                </a:solidFill>
                <a:latin typeface="Arial"/>
              </a:rPr>
              <a:t>•  Winning aspiration, </a:t>
            </a:r>
            <a:r>
              <a:rPr sz="1250">
                <a:solidFill>
                  <a:srgbClr val="231F2E"/>
                </a:solidFill>
                <a:latin typeface="Arial"/>
              </a:rPr>
              <a:t>users feel stronger, more self-aware, and more capable, whether they open Fable daily or only when it matters most.</a:t>
            </a:r>
          </a:p>
          <a:p>
            <a:pPr>
              <a:spcAft>
                <a:spcPts val="500"/>
              </a:spcAft>
            </a:pPr>
            <a:r>
              <a:rPr sz="1250" b="1">
                <a:solidFill>
                  <a:srgbClr val="231F2E"/>
                </a:solidFill>
                <a:latin typeface="Arial"/>
              </a:rPr>
              <a:t>•  Where to play, </a:t>
            </a:r>
            <a:r>
              <a:rPr sz="1250">
                <a:solidFill>
                  <a:srgbClr val="231F2E"/>
                </a:solidFill>
                <a:latin typeface="Arial"/>
              </a:rPr>
              <a:t>digitally comfortable adults, in established markets, who have emerged from an acute episode of anxiety or stress and want to protect their progress.</a:t>
            </a:r>
          </a:p>
          <a:p>
            <a:pPr>
              <a:spcAft>
                <a:spcPts val="500"/>
              </a:spcAft>
            </a:pPr>
            <a:r>
              <a:rPr sz="1250" b="1">
                <a:solidFill>
                  <a:srgbClr val="231F2E"/>
                </a:solidFill>
                <a:latin typeface="Arial"/>
              </a:rPr>
              <a:t>•  How to win, </a:t>
            </a:r>
            <a:r>
              <a:rPr sz="1250">
                <a:solidFill>
                  <a:srgbClr val="231F2E"/>
                </a:solidFill>
                <a:latin typeface="Arial"/>
              </a:rPr>
              <a:t>become the most trusted source of personal wellness knowledge in a user's life. Features can be copied; a longitudinal, trusted wellness memory cannot.</a:t>
            </a:r>
          </a:p>
          <a:p>
            <a:pPr>
              <a:spcAft>
                <a:spcPts val="500"/>
              </a:spcAft>
            </a:pPr>
            <a:r>
              <a:rPr sz="1250" b="1">
                <a:solidFill>
                  <a:srgbClr val="231F2E"/>
                </a:solidFill>
                <a:latin typeface="Arial"/>
              </a:rPr>
              <a:t>•  Capabilities, </a:t>
            </a:r>
            <a:r>
              <a:rPr sz="1250">
                <a:solidFill>
                  <a:srgbClr val="231F2E"/>
                </a:solidFill>
                <a:latin typeface="Arial"/>
              </a:rPr>
              <a:t>build wellness intelligence, trusted AI guidance, behavioral science, privacy, outcomes measurement. Partner for clinical; buy commodity infrastructure.</a:t>
            </a:r>
          </a:p>
        </p:txBody>
      </p:sp>
      <p:sp>
        <p:nvSpPr>
          <p:cNvPr id="9" name="Rounded Rectangle 8"/>
          <p:cNvSpPr/>
          <p:nvPr/>
        </p:nvSpPr>
        <p:spPr>
          <a:xfrm>
            <a:off x="7452360" y="1554480"/>
            <a:ext cx="4187952" cy="2834640"/>
          </a:xfrm>
          <a:prstGeom prst="roundRect">
            <a:avLst>
              <a:gd name="adj" fmla="val 6000"/>
            </a:avLst>
          </a:prstGeom>
          <a:solidFill>
            <a:srgbClr val="4A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0" y="1737360"/>
            <a:ext cx="3749039" cy="320040"/>
          </a:xfrm>
          <a:prstGeom prst="rect">
            <a:avLst/>
          </a:prstGeom>
          <a:noFill/>
        </p:spPr>
        <p:txBody>
          <a:bodyPr wrap="square" anchor="t">
            <a:spAutoFit/>
          </a:bodyPr>
          <a:lstStyle/>
          <a:p>
            <a:pPr algn="l">
              <a:spcAft>
                <a:spcPts val="400"/>
              </a:spcAft>
            </a:pPr>
            <a:r>
              <a:rPr sz="1100" b="1" i="0">
                <a:solidFill>
                  <a:srgbClr val="C99B5F"/>
                </a:solidFill>
                <a:latin typeface="Arial"/>
              </a:rPr>
              <a:t>THE ONE HARD NO</a:t>
            </a:r>
          </a:p>
        </p:txBody>
      </p:sp>
      <p:sp>
        <p:nvSpPr>
          <p:cNvPr id="11" name="TextBox 10"/>
          <p:cNvSpPr txBox="1"/>
          <p:nvPr/>
        </p:nvSpPr>
        <p:spPr>
          <a:xfrm>
            <a:off x="7680960" y="2103120"/>
            <a:ext cx="3749039" cy="1463040"/>
          </a:xfrm>
          <a:prstGeom prst="rect">
            <a:avLst/>
          </a:prstGeom>
          <a:noFill/>
        </p:spPr>
        <p:txBody>
          <a:bodyPr wrap="square" anchor="t">
            <a:spAutoFit/>
          </a:bodyPr>
          <a:lstStyle/>
          <a:p>
            <a:pPr algn="l">
              <a:spcAft>
                <a:spcPts val="400"/>
              </a:spcAft>
            </a:pPr>
            <a:r>
              <a:rPr sz="1700" b="1" i="0">
                <a:solidFill>
                  <a:srgbClr val="FFFFFF"/>
                </a:solidFill>
                <a:latin typeface="Georgia"/>
              </a:rPr>
              <a:t>Fable will not optimize for engagement, even when doing so would accelerate growth.</a:t>
            </a:r>
          </a:p>
        </p:txBody>
      </p:sp>
      <p:sp>
        <p:nvSpPr>
          <p:cNvPr id="12" name="TextBox 11"/>
          <p:cNvSpPr txBox="1"/>
          <p:nvPr/>
        </p:nvSpPr>
        <p:spPr>
          <a:xfrm>
            <a:off x="7680960" y="3520440"/>
            <a:ext cx="3749039" cy="731520"/>
          </a:xfrm>
          <a:prstGeom prst="rect">
            <a:avLst/>
          </a:prstGeom>
          <a:noFill/>
        </p:spPr>
        <p:txBody>
          <a:bodyPr wrap="square" anchor="t">
            <a:spAutoFit/>
          </a:bodyPr>
          <a:lstStyle/>
          <a:p>
            <a:pPr algn="l">
              <a:spcAft>
                <a:spcPts val="400"/>
              </a:spcAft>
            </a:pPr>
            <a:r>
              <a:rPr sz="1200" b="0" i="0">
                <a:solidFill>
                  <a:srgbClr val="E8DFEF"/>
                </a:solidFill>
                <a:latin typeface="Arial"/>
              </a:rPr>
              <a:t>Engagement mechanics create dependence. This strategy only works if users grow more resilient, including when they open Fable less.</a:t>
            </a:r>
          </a:p>
        </p:txBody>
      </p:sp>
      <p:sp>
        <p:nvSpPr>
          <p:cNvPr id="13" name="Rounded Rectangle 12"/>
          <p:cNvSpPr/>
          <p:nvPr/>
        </p:nvSpPr>
        <p:spPr>
          <a:xfrm>
            <a:off x="548640" y="4617720"/>
            <a:ext cx="11091672" cy="1783080"/>
          </a:xfrm>
          <a:prstGeom prst="roundRect">
            <a:avLst>
              <a:gd name="adj" fmla="val 6000"/>
            </a:avLst>
          </a:prstGeom>
          <a:solidFill>
            <a:srgbClr val="FFFFFF"/>
          </a:solidFill>
          <a:ln w="12700">
            <a:solidFill>
              <a:srgbClr val="DD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754880"/>
            <a:ext cx="10607040" cy="320040"/>
          </a:xfrm>
          <a:prstGeom prst="rect">
            <a:avLst/>
          </a:prstGeom>
          <a:noFill/>
        </p:spPr>
        <p:txBody>
          <a:bodyPr wrap="square" anchor="t">
            <a:spAutoFit/>
          </a:bodyPr>
          <a:lstStyle/>
          <a:p>
            <a:pPr algn="l">
              <a:spcAft>
                <a:spcPts val="400"/>
              </a:spcAft>
            </a:pPr>
            <a:r>
              <a:rPr sz="1100" b="1" i="0">
                <a:solidFill>
                  <a:srgbClr val="C99B5F"/>
                </a:solidFill>
                <a:latin typeface="Arial"/>
              </a:rPr>
              <a:t>OKR CASCADE</a:t>
            </a:r>
          </a:p>
        </p:txBody>
      </p:sp>
      <p:sp>
        <p:nvSpPr>
          <p:cNvPr id="15" name="TextBox 14"/>
          <p:cNvSpPr txBox="1"/>
          <p:nvPr/>
        </p:nvSpPr>
        <p:spPr>
          <a:xfrm>
            <a:off x="777240" y="5047488"/>
            <a:ext cx="10607040" cy="502920"/>
          </a:xfrm>
          <a:prstGeom prst="rect">
            <a:avLst/>
          </a:prstGeom>
          <a:noFill/>
        </p:spPr>
        <p:txBody>
          <a:bodyPr wrap="square" anchor="t">
            <a:spAutoFit/>
          </a:bodyPr>
          <a:lstStyle/>
          <a:p>
            <a:pPr algn="l">
              <a:spcAft>
                <a:spcPts val="400"/>
              </a:spcAft>
            </a:pPr>
            <a:r>
              <a:rPr sz="1350" b="1" i="0">
                <a:solidFill>
                  <a:srgbClr val="4A3357"/>
                </a:solidFill>
                <a:latin typeface="Arial"/>
              </a:rPr>
              <a:t>Objective: Enable users to sustain well-being after the acute phase, building confidence, self-awareness, and resilience without increasing dependence on Fable.</a:t>
            </a:r>
          </a:p>
        </p:txBody>
      </p:sp>
      <p:sp>
        <p:nvSpPr>
          <p:cNvPr id="16" name="TextBox 15"/>
          <p:cNvSpPr txBox="1"/>
          <p:nvPr/>
        </p:nvSpPr>
        <p:spPr>
          <a:xfrm>
            <a:off x="777240" y="5596128"/>
            <a:ext cx="10607040" cy="777240"/>
          </a:xfrm>
          <a:prstGeom prst="rect">
            <a:avLst/>
          </a:prstGeom>
          <a:noFill/>
        </p:spPr>
        <p:txBody>
          <a:bodyPr wrap="square">
            <a:spAutoFit/>
          </a:bodyPr>
          <a:lstStyle/>
          <a:p>
            <a:pPr>
              <a:spcAft>
                <a:spcPts val="0"/>
              </a:spcAft>
            </a:pPr>
            <a:r>
              <a:rPr sz="1300" b="1">
                <a:solidFill>
                  <a:srgbClr val="231F2E"/>
                </a:solidFill>
                <a:latin typeface="Arial"/>
              </a:rPr>
              <a:t>•  KR1  Confidence: </a:t>
            </a:r>
            <a:r>
              <a:rPr sz="1300">
                <a:solidFill>
                  <a:srgbClr val="231F2E"/>
                </a:solidFill>
                <a:latin typeface="Arial"/>
              </a:rPr>
              <a:t>42% to 65%   ·   </a:t>
            </a:r>
          </a:p>
          <a:p>
            <a:pPr>
              <a:spcAft>
                <a:spcPts val="0"/>
              </a:spcAft>
            </a:pPr>
            <a:r>
              <a:rPr sz="1300" b="1">
                <a:solidFill>
                  <a:srgbClr val="231F2E"/>
                </a:solidFill>
                <a:latin typeface="Arial"/>
              </a:rPr>
              <a:t>•  KR2  Proactive action: </a:t>
            </a:r>
            <a:r>
              <a:rPr sz="1300">
                <a:solidFill>
                  <a:srgbClr val="231F2E"/>
                </a:solidFill>
                <a:latin typeface="Arial"/>
              </a:rPr>
              <a:t>25% to 50%   ·   </a:t>
            </a:r>
          </a:p>
          <a:p>
            <a:pPr>
              <a:spcAft>
                <a:spcPts val="0"/>
              </a:spcAft>
            </a:pPr>
            <a:r>
              <a:rPr sz="1300" b="1">
                <a:solidFill>
                  <a:srgbClr val="231F2E"/>
                </a:solidFill>
                <a:latin typeface="Arial"/>
              </a:rPr>
              <a:t>•  KR3  Successful re-engagement: </a:t>
            </a:r>
            <a:r>
              <a:rPr sz="1300">
                <a:solidFill>
                  <a:srgbClr val="231F2E"/>
                </a:solidFill>
                <a:latin typeface="Arial"/>
              </a:rPr>
              <a:t>30% to 55%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320040"/>
          </a:xfrm>
          <a:prstGeom prst="rect">
            <a:avLst/>
          </a:prstGeom>
          <a:noFill/>
        </p:spPr>
        <p:txBody>
          <a:bodyPr wrap="square" anchor="t">
            <a:spAutoFit/>
          </a:bodyPr>
          <a:lstStyle/>
          <a:p>
            <a:pPr algn="l">
              <a:spcAft>
                <a:spcPts val="400"/>
              </a:spcAft>
            </a:pPr>
            <a:r>
              <a:rPr sz="1200" b="1" i="0">
                <a:solidFill>
                  <a:srgbClr val="C99B5F"/>
                </a:solidFill>
                <a:latin typeface="Arial"/>
              </a:rPr>
              <a:t>MODULE 2 · OUTCOME ROADMAP</a:t>
            </a:r>
          </a:p>
        </p:txBody>
      </p:sp>
      <p:sp>
        <p:nvSpPr>
          <p:cNvPr id="4" name="TextBox 3"/>
          <p:cNvSpPr txBox="1"/>
          <p:nvPr/>
        </p:nvSpPr>
        <p:spPr>
          <a:xfrm>
            <a:off x="548640" y="621792"/>
            <a:ext cx="11064240" cy="685800"/>
          </a:xfrm>
          <a:prstGeom prst="rect">
            <a:avLst/>
          </a:prstGeom>
          <a:noFill/>
        </p:spPr>
        <p:txBody>
          <a:bodyPr wrap="square" anchor="t">
            <a:spAutoFit/>
          </a:bodyPr>
          <a:lstStyle/>
          <a:p>
            <a:pPr algn="l">
              <a:spcAft>
                <a:spcPts val="400"/>
              </a:spcAft>
            </a:pPr>
            <a:r>
              <a:rPr sz="3000" b="1" i="0">
                <a:solidFill>
                  <a:srgbClr val="4A3357"/>
                </a:solidFill>
                <a:latin typeface="Georgia"/>
              </a:rPr>
              <a:t>Bets sequenced by outcome, not by feature</a:t>
            </a:r>
          </a:p>
        </p:txBody>
      </p:sp>
      <p:sp>
        <p:nvSpPr>
          <p:cNvPr id="5" name="Rectangle 4"/>
          <p:cNvSpPr/>
          <p:nvPr/>
        </p:nvSpPr>
        <p:spPr>
          <a:xfrm>
            <a:off x="548640" y="1298448"/>
            <a:ext cx="11091672" cy="31750"/>
          </a:xfrm>
          <a:prstGeom prst="rect">
            <a:avLst/>
          </a:prstGeom>
          <a:solidFill>
            <a:srgbClr val="C99B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554480"/>
            <a:ext cx="3584448" cy="2697480"/>
          </a:xfrm>
          <a:prstGeom prst="roundRect">
            <a:avLst>
              <a:gd name="adj" fmla="val 6000"/>
            </a:avLst>
          </a:prstGeom>
          <a:solidFill>
            <a:srgbClr val="FFFFFF"/>
          </a:solidFill>
          <a:ln w="12700">
            <a:solidFill>
              <a:srgbClr val="DD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1640"/>
            <a:ext cx="3200400" cy="320040"/>
          </a:xfrm>
          <a:prstGeom prst="rect">
            <a:avLst/>
          </a:prstGeom>
          <a:noFill/>
        </p:spPr>
        <p:txBody>
          <a:bodyPr wrap="square" anchor="t">
            <a:spAutoFit/>
          </a:bodyPr>
          <a:lstStyle/>
          <a:p>
            <a:pPr algn="l">
              <a:spcAft>
                <a:spcPts val="400"/>
              </a:spcAft>
            </a:pPr>
            <a:r>
              <a:rPr sz="1150" b="1" i="0">
                <a:solidFill>
                  <a:srgbClr val="6D4C7D"/>
                </a:solidFill>
                <a:latin typeface="Arial"/>
              </a:rPr>
              <a:t>NOW · 0-3 MO</a:t>
            </a:r>
          </a:p>
        </p:txBody>
      </p:sp>
      <p:sp>
        <p:nvSpPr>
          <p:cNvPr id="8" name="TextBox 7"/>
          <p:cNvSpPr txBox="1"/>
          <p:nvPr/>
        </p:nvSpPr>
        <p:spPr>
          <a:xfrm>
            <a:off x="749808" y="2057400"/>
            <a:ext cx="3200400" cy="2103120"/>
          </a:xfrm>
          <a:prstGeom prst="rect">
            <a:avLst/>
          </a:prstGeom>
          <a:noFill/>
        </p:spPr>
        <p:txBody>
          <a:bodyPr wrap="square">
            <a:spAutoFit/>
          </a:bodyPr>
          <a:lstStyle/>
          <a:p>
            <a:pPr>
              <a:spcAft>
                <a:spcPts val="600"/>
              </a:spcAft>
            </a:pPr>
            <a:r>
              <a:rPr sz="1200" b="1">
                <a:solidFill>
                  <a:srgbClr val="231F2E"/>
                </a:solidFill>
                <a:latin typeface="Arial"/>
              </a:rPr>
              <a:t>•  Support at the right moment</a:t>
            </a:r>
            <a:r>
              <a:rPr sz="1200">
                <a:solidFill>
                  <a:srgbClr val="231F2E"/>
                </a:solidFill>
                <a:latin typeface="Arial"/>
              </a:rPr>
              <a:t>, re-engagement, KR3 30% to 55% (PM2)</a:t>
            </a:r>
          </a:p>
          <a:p>
            <a:pPr>
              <a:spcAft>
                <a:spcPts val="600"/>
              </a:spcAft>
            </a:pPr>
            <a:r>
              <a:rPr sz="1200" b="1">
                <a:solidFill>
                  <a:srgbClr val="231F2E"/>
                </a:solidFill>
                <a:latin typeface="Arial"/>
              </a:rPr>
              <a:t>•  Guidance grounded in personal history</a:t>
            </a:r>
            <a:r>
              <a:rPr sz="1200">
                <a:solidFill>
                  <a:srgbClr val="231F2E"/>
                </a:solidFill>
                <a:latin typeface="Arial"/>
              </a:rPr>
              <a:t>, confidence + proactive action, KR1/KR2 (PM3)</a:t>
            </a:r>
          </a:p>
          <a:p>
            <a:pPr>
              <a:spcAft>
                <a:spcPts val="600"/>
              </a:spcAft>
            </a:pPr>
            <a:r>
              <a:rPr sz="1200" b="1">
                <a:solidFill>
                  <a:srgbClr val="231F2E"/>
                </a:solidFill>
                <a:latin typeface="Arial"/>
              </a:rPr>
              <a:t>•  Value beyond acute recovery</a:t>
            </a:r>
            <a:r>
              <a:rPr sz="1200">
                <a:solidFill>
                  <a:srgbClr val="231F2E"/>
                </a:solidFill>
                <a:latin typeface="Arial"/>
              </a:rPr>
              <a:t>, long-term return behavior, KR3 (PM2)</a:t>
            </a:r>
          </a:p>
        </p:txBody>
      </p:sp>
      <p:sp>
        <p:nvSpPr>
          <p:cNvPr id="9" name="Rounded Rectangle 8"/>
          <p:cNvSpPr/>
          <p:nvPr/>
        </p:nvSpPr>
        <p:spPr>
          <a:xfrm>
            <a:off x="4306824" y="1554480"/>
            <a:ext cx="3584448" cy="2697480"/>
          </a:xfrm>
          <a:prstGeom prst="roundRect">
            <a:avLst>
              <a:gd name="adj" fmla="val 6000"/>
            </a:avLst>
          </a:prstGeom>
          <a:solidFill>
            <a:srgbClr val="FFFFFF"/>
          </a:solidFill>
          <a:ln w="12700">
            <a:solidFill>
              <a:srgbClr val="DD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1691640"/>
            <a:ext cx="3200400" cy="320040"/>
          </a:xfrm>
          <a:prstGeom prst="rect">
            <a:avLst/>
          </a:prstGeom>
          <a:noFill/>
        </p:spPr>
        <p:txBody>
          <a:bodyPr wrap="square" anchor="t">
            <a:spAutoFit/>
          </a:bodyPr>
          <a:lstStyle/>
          <a:p>
            <a:pPr algn="l">
              <a:spcAft>
                <a:spcPts val="400"/>
              </a:spcAft>
            </a:pPr>
            <a:r>
              <a:rPr sz="1150" b="1" i="0">
                <a:solidFill>
                  <a:srgbClr val="6D4C7D"/>
                </a:solidFill>
                <a:latin typeface="Arial"/>
              </a:rPr>
              <a:t>NEXT · 3-6 MO</a:t>
            </a:r>
          </a:p>
        </p:txBody>
      </p:sp>
      <p:sp>
        <p:nvSpPr>
          <p:cNvPr id="11" name="TextBox 10"/>
          <p:cNvSpPr txBox="1"/>
          <p:nvPr/>
        </p:nvSpPr>
        <p:spPr>
          <a:xfrm>
            <a:off x="4507992" y="2057400"/>
            <a:ext cx="3200400" cy="2103120"/>
          </a:xfrm>
          <a:prstGeom prst="rect">
            <a:avLst/>
          </a:prstGeom>
          <a:noFill/>
        </p:spPr>
        <p:txBody>
          <a:bodyPr wrap="square">
            <a:spAutoFit/>
          </a:bodyPr>
          <a:lstStyle/>
          <a:p>
            <a:pPr>
              <a:spcAft>
                <a:spcPts val="600"/>
              </a:spcAft>
            </a:pPr>
            <a:r>
              <a:rPr sz="1200" b="1">
                <a:solidFill>
                  <a:srgbClr val="231F2E"/>
                </a:solidFill>
                <a:latin typeface="Arial"/>
              </a:rPr>
              <a:t>•  Smoother acute, resilience transition</a:t>
            </a:r>
            <a:r>
              <a:rPr sz="1200">
                <a:solidFill>
                  <a:srgbClr val="231F2E"/>
                </a:solidFill>
                <a:latin typeface="Arial"/>
              </a:rPr>
              <a:t>, long-term retention (PM2)</a:t>
            </a:r>
          </a:p>
          <a:p>
            <a:pPr>
              <a:spcAft>
                <a:spcPts val="600"/>
              </a:spcAft>
            </a:pPr>
            <a:r>
              <a:rPr sz="1200" b="1">
                <a:solidFill>
                  <a:srgbClr val="231F2E"/>
                </a:solidFill>
                <a:latin typeface="Arial"/>
              </a:rPr>
              <a:t>•  Earlier pattern detection</a:t>
            </a:r>
            <a:r>
              <a:rPr sz="1200">
                <a:solidFill>
                  <a:srgbClr val="231F2E"/>
                </a:solidFill>
                <a:latin typeface="Arial"/>
              </a:rPr>
              <a:t>, intervene before users are overwhelmed, KR2 (PM3)</a:t>
            </a:r>
          </a:p>
          <a:p>
            <a:pPr>
              <a:spcAft>
                <a:spcPts val="600"/>
              </a:spcAft>
            </a:pPr>
            <a:r>
              <a:rPr sz="1200" b="1">
                <a:solidFill>
                  <a:srgbClr val="231F2E"/>
                </a:solidFill>
                <a:latin typeface="Arial"/>
              </a:rPr>
              <a:t>•  Lightweight companion experiences</a:t>
            </a:r>
            <a:r>
              <a:rPr sz="1200">
                <a:solidFill>
                  <a:srgbClr val="231F2E"/>
                </a:solidFill>
                <a:latin typeface="Arial"/>
              </a:rPr>
              <a:t>, re-engagement without dependency, KR3 (PM2)</a:t>
            </a:r>
          </a:p>
        </p:txBody>
      </p:sp>
      <p:sp>
        <p:nvSpPr>
          <p:cNvPr id="12" name="Rounded Rectangle 11"/>
          <p:cNvSpPr/>
          <p:nvPr/>
        </p:nvSpPr>
        <p:spPr>
          <a:xfrm>
            <a:off x="8065008" y="1554480"/>
            <a:ext cx="3584448" cy="2697480"/>
          </a:xfrm>
          <a:prstGeom prst="roundRect">
            <a:avLst>
              <a:gd name="adj" fmla="val 6000"/>
            </a:avLst>
          </a:prstGeom>
          <a:solidFill>
            <a:srgbClr val="FFFFFF"/>
          </a:solidFill>
          <a:ln w="12700">
            <a:solidFill>
              <a:srgbClr val="DD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66176" y="1691640"/>
            <a:ext cx="3200400" cy="320040"/>
          </a:xfrm>
          <a:prstGeom prst="rect">
            <a:avLst/>
          </a:prstGeom>
          <a:noFill/>
        </p:spPr>
        <p:txBody>
          <a:bodyPr wrap="square" anchor="t">
            <a:spAutoFit/>
          </a:bodyPr>
          <a:lstStyle/>
          <a:p>
            <a:pPr algn="l">
              <a:spcAft>
                <a:spcPts val="400"/>
              </a:spcAft>
            </a:pPr>
            <a:r>
              <a:rPr sz="1150" b="1" i="0">
                <a:solidFill>
                  <a:srgbClr val="6D4C7D"/>
                </a:solidFill>
                <a:latin typeface="Arial"/>
              </a:rPr>
              <a:t>LATER · 6-12 MO</a:t>
            </a:r>
          </a:p>
        </p:txBody>
      </p:sp>
      <p:sp>
        <p:nvSpPr>
          <p:cNvPr id="14" name="TextBox 13"/>
          <p:cNvSpPr txBox="1"/>
          <p:nvPr/>
        </p:nvSpPr>
        <p:spPr>
          <a:xfrm>
            <a:off x="8266176" y="2057400"/>
            <a:ext cx="3200400" cy="2103120"/>
          </a:xfrm>
          <a:prstGeom prst="rect">
            <a:avLst/>
          </a:prstGeom>
          <a:noFill/>
        </p:spPr>
        <p:txBody>
          <a:bodyPr wrap="square">
            <a:spAutoFit/>
          </a:bodyPr>
          <a:lstStyle/>
          <a:p>
            <a:pPr>
              <a:spcAft>
                <a:spcPts val="600"/>
              </a:spcAft>
            </a:pPr>
            <a:r>
              <a:rPr sz="1200" b="1">
                <a:solidFill>
                  <a:srgbClr val="231F2E"/>
                </a:solidFill>
                <a:latin typeface="Arial"/>
              </a:rPr>
              <a:t>•  Professional support at the right moments</a:t>
            </a:r>
            <a:r>
              <a:rPr sz="1200">
                <a:solidFill>
                  <a:srgbClr val="231F2E"/>
                </a:solidFill>
                <a:latin typeface="Arial"/>
              </a:rPr>
              <a:t>, via partners, for needs beyond self-guided (PM3)</a:t>
            </a:r>
          </a:p>
          <a:p>
            <a:pPr>
              <a:spcAft>
                <a:spcPts val="600"/>
              </a:spcAft>
            </a:pPr>
            <a:r>
              <a:rPr sz="1200" b="1">
                <a:solidFill>
                  <a:srgbClr val="231F2E"/>
                </a:solidFill>
                <a:latin typeface="Arial"/>
              </a:rPr>
              <a:t>•  Wearable signals</a:t>
            </a:r>
            <a:r>
              <a:rPr sz="1200">
                <a:solidFill>
                  <a:srgbClr val="231F2E"/>
                </a:solidFill>
                <a:latin typeface="Arial"/>
              </a:rPr>
              <a:t>, earlier recognition of well-being changes (PM3)</a:t>
            </a:r>
          </a:p>
          <a:p>
            <a:pPr>
              <a:spcAft>
                <a:spcPts val="600"/>
              </a:spcAft>
            </a:pPr>
            <a:r>
              <a:rPr sz="1200" b="1">
                <a:solidFill>
                  <a:srgbClr val="231F2E"/>
                </a:solidFill>
                <a:latin typeface="Arial"/>
              </a:rPr>
              <a:t>•  International expansion</a:t>
            </a:r>
            <a:r>
              <a:rPr sz="1200">
                <a:solidFill>
                  <a:srgbClr val="231F2E"/>
                </a:solidFill>
                <a:latin typeface="Arial"/>
              </a:rPr>
              <a:t>, only once the retention model is proven in core markets (PM2)</a:t>
            </a:r>
          </a:p>
        </p:txBody>
      </p:sp>
      <p:sp>
        <p:nvSpPr>
          <p:cNvPr id="15" name="Rounded Rectangle 14"/>
          <p:cNvSpPr/>
          <p:nvPr/>
        </p:nvSpPr>
        <p:spPr>
          <a:xfrm>
            <a:off x="548640" y="4480560"/>
            <a:ext cx="11091672" cy="1920240"/>
          </a:xfrm>
          <a:prstGeom prst="roundRect">
            <a:avLst>
              <a:gd name="adj" fmla="val 6000"/>
            </a:avLst>
          </a:prstGeom>
          <a:solidFill>
            <a:srgbClr val="FFFFFF"/>
          </a:solidFill>
          <a:ln w="12700">
            <a:solidFill>
              <a:srgbClr val="DD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617720"/>
            <a:ext cx="10607040" cy="320040"/>
          </a:xfrm>
          <a:prstGeom prst="rect">
            <a:avLst/>
          </a:prstGeom>
          <a:noFill/>
        </p:spPr>
        <p:txBody>
          <a:bodyPr wrap="square" anchor="t">
            <a:spAutoFit/>
          </a:bodyPr>
          <a:lstStyle/>
          <a:p>
            <a:pPr algn="l">
              <a:spcAft>
                <a:spcPts val="400"/>
              </a:spcAft>
            </a:pPr>
            <a:r>
              <a:rPr sz="1100" b="1" i="0">
                <a:solidFill>
                  <a:srgbClr val="C99B5F"/>
                </a:solidFill>
                <a:latin typeface="Arial"/>
              </a:rPr>
              <a:t>TRADE-OFFS WE DEFENDED</a:t>
            </a:r>
          </a:p>
        </p:txBody>
      </p:sp>
      <p:sp>
        <p:nvSpPr>
          <p:cNvPr id="17" name="TextBox 16"/>
          <p:cNvSpPr txBox="1"/>
          <p:nvPr/>
        </p:nvSpPr>
        <p:spPr>
          <a:xfrm>
            <a:off x="777240" y="4956048"/>
            <a:ext cx="10607040" cy="1371600"/>
          </a:xfrm>
          <a:prstGeom prst="rect">
            <a:avLst/>
          </a:prstGeom>
          <a:noFill/>
        </p:spPr>
        <p:txBody>
          <a:bodyPr wrap="square">
            <a:spAutoFit/>
          </a:bodyPr>
          <a:lstStyle/>
          <a:p>
            <a:pPr>
              <a:spcAft>
                <a:spcPts val="500"/>
              </a:spcAft>
            </a:pPr>
            <a:r>
              <a:rPr sz="1250" b="1">
                <a:solidFill>
                  <a:srgbClr val="231F2E"/>
                </a:solidFill>
                <a:latin typeface="Arial"/>
              </a:rPr>
              <a:t>•  Sequenced first: </a:t>
            </a:r>
            <a:r>
              <a:rPr sz="1250">
                <a:solidFill>
                  <a:srgbClr val="231F2E"/>
                </a:solidFill>
                <a:latin typeface="Arial"/>
              </a:rPr>
              <a:t>fix notifications (Rock #1), AI check-in prompts personalized to user history (Rock #2, the big bet), onboarding redesign on the 40% drop-off data (Rock #3).</a:t>
            </a:r>
          </a:p>
          <a:p>
            <a:pPr>
              <a:spcAft>
                <a:spcPts val="500"/>
              </a:spcAft>
            </a:pPr>
            <a:r>
              <a:rPr sz="1250" b="1">
                <a:solidFill>
                  <a:srgbClr val="231F2E"/>
                </a:solidFill>
                <a:latin typeface="Arial"/>
              </a:rPr>
              <a:t>•  Cut entirely: </a:t>
            </a:r>
            <a:r>
              <a:rPr sz="1250">
                <a:solidFill>
                  <a:srgbClr val="231F2E"/>
                </a:solidFill>
                <a:latin typeface="Arial"/>
              </a:rPr>
              <a:t>daily streaks (engagement, not resilience) · content library (a crowded market that doesn't test our hypothesis) · Fable for Teams (a new buyer and business model before the core model is proven).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320040"/>
          </a:xfrm>
          <a:prstGeom prst="rect">
            <a:avLst/>
          </a:prstGeom>
          <a:noFill/>
        </p:spPr>
        <p:txBody>
          <a:bodyPr wrap="square" anchor="t">
            <a:spAutoFit/>
          </a:bodyPr>
          <a:lstStyle/>
          <a:p>
            <a:pPr algn="l">
              <a:spcAft>
                <a:spcPts val="400"/>
              </a:spcAft>
            </a:pPr>
            <a:r>
              <a:rPr sz="1200" b="1" i="0">
                <a:solidFill>
                  <a:srgbClr val="C99B5F"/>
                </a:solidFill>
                <a:latin typeface="Arial"/>
              </a:rPr>
              <a:t>MODULE 3 · TEAM CHARTER</a:t>
            </a:r>
          </a:p>
        </p:txBody>
      </p:sp>
      <p:sp>
        <p:nvSpPr>
          <p:cNvPr id="4" name="TextBox 3"/>
          <p:cNvSpPr txBox="1"/>
          <p:nvPr/>
        </p:nvSpPr>
        <p:spPr>
          <a:xfrm>
            <a:off x="548640" y="621792"/>
            <a:ext cx="11064240" cy="685800"/>
          </a:xfrm>
          <a:prstGeom prst="rect">
            <a:avLst/>
          </a:prstGeom>
          <a:noFill/>
        </p:spPr>
        <p:txBody>
          <a:bodyPr wrap="square" anchor="t">
            <a:spAutoFit/>
          </a:bodyPr>
          <a:lstStyle/>
          <a:p>
            <a:pPr algn="l">
              <a:spcAft>
                <a:spcPts val="400"/>
              </a:spcAft>
            </a:pPr>
            <a:r>
              <a:rPr sz="3000" b="1" i="0">
                <a:solidFill>
                  <a:srgbClr val="4A3357"/>
                </a:solidFill>
                <a:latin typeface="Georgia"/>
              </a:rPr>
              <a:t>What we own, and how we decide</a:t>
            </a:r>
          </a:p>
        </p:txBody>
      </p:sp>
      <p:sp>
        <p:nvSpPr>
          <p:cNvPr id="5" name="Rectangle 4"/>
          <p:cNvSpPr/>
          <p:nvPr/>
        </p:nvSpPr>
        <p:spPr>
          <a:xfrm>
            <a:off x="548640" y="1298448"/>
            <a:ext cx="11091672" cy="31750"/>
          </a:xfrm>
          <a:prstGeom prst="rect">
            <a:avLst/>
          </a:prstGeom>
          <a:solidFill>
            <a:srgbClr val="C99B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81328"/>
            <a:ext cx="11091672" cy="457200"/>
          </a:xfrm>
          <a:prstGeom prst="rect">
            <a:avLst/>
          </a:prstGeom>
          <a:noFill/>
        </p:spPr>
        <p:txBody>
          <a:bodyPr wrap="square" anchor="t">
            <a:spAutoFit/>
          </a:bodyPr>
          <a:lstStyle/>
          <a:p>
            <a:pPr algn="l">
              <a:spcAft>
                <a:spcPts val="400"/>
              </a:spcAft>
            </a:pPr>
            <a:r>
              <a:rPr sz="1450" b="1" i="0">
                <a:solidFill>
                  <a:srgbClr val="4A3357"/>
                </a:solidFill>
                <a:latin typeface="Arial"/>
              </a:rPr>
              <a:t>Mission: We retain users after their acute need is resolved by building confidence (KR1), proactive action (KR2), and successful re-engagement (KR3).</a:t>
            </a:r>
          </a:p>
        </p:txBody>
      </p:sp>
      <p:sp>
        <p:nvSpPr>
          <p:cNvPr id="7" name="Rounded Rectangle 6"/>
          <p:cNvSpPr/>
          <p:nvPr/>
        </p:nvSpPr>
        <p:spPr>
          <a:xfrm>
            <a:off x="548640" y="2103120"/>
            <a:ext cx="5440680" cy="2286000"/>
          </a:xfrm>
          <a:prstGeom prst="roundRect">
            <a:avLst>
              <a:gd name="adj" fmla="val 6000"/>
            </a:avLst>
          </a:prstGeom>
          <a:solidFill>
            <a:srgbClr val="FFFFFF"/>
          </a:solidFill>
          <a:ln w="12700">
            <a:solidFill>
              <a:srgbClr val="DD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240280"/>
            <a:ext cx="4937760" cy="320040"/>
          </a:xfrm>
          <a:prstGeom prst="rect">
            <a:avLst/>
          </a:prstGeom>
          <a:noFill/>
        </p:spPr>
        <p:txBody>
          <a:bodyPr wrap="square" anchor="t">
            <a:spAutoFit/>
          </a:bodyPr>
          <a:lstStyle/>
          <a:p>
            <a:pPr algn="l">
              <a:spcAft>
                <a:spcPts val="400"/>
              </a:spcAft>
            </a:pPr>
            <a:r>
              <a:rPr sz="1100" b="1" i="0">
                <a:solidFill>
                  <a:srgbClr val="C99B5F"/>
                </a:solidFill>
                <a:latin typeface="Arial"/>
              </a:rPr>
              <a:t>WHAT WE OWN</a:t>
            </a:r>
          </a:p>
        </p:txBody>
      </p:sp>
      <p:sp>
        <p:nvSpPr>
          <p:cNvPr id="9" name="TextBox 8"/>
          <p:cNvSpPr txBox="1"/>
          <p:nvPr/>
        </p:nvSpPr>
        <p:spPr>
          <a:xfrm>
            <a:off x="777240" y="2578608"/>
            <a:ext cx="4983480" cy="1737360"/>
          </a:xfrm>
          <a:prstGeom prst="rect">
            <a:avLst/>
          </a:prstGeom>
          <a:noFill/>
        </p:spPr>
        <p:txBody>
          <a:bodyPr wrap="square">
            <a:spAutoFit/>
          </a:bodyPr>
          <a:lstStyle/>
          <a:p>
            <a:pPr>
              <a:spcAft>
                <a:spcPts val="500"/>
              </a:spcAft>
            </a:pPr>
            <a:r>
              <a:rPr sz="1250" b="1">
                <a:solidFill>
                  <a:srgbClr val="231F2E"/>
                </a:solidFill>
                <a:latin typeface="Arial"/>
              </a:rPr>
              <a:t>•  Post-Acute Retention Strategy</a:t>
            </a:r>
            <a:r>
              <a:rPr sz="1250">
                <a:solidFill>
                  <a:srgbClr val="231F2E"/>
                </a:solidFill>
                <a:latin typeface="Arial"/>
              </a:rPr>
              <a:t>, roadmap and OKRs for KR1-KR3</a:t>
            </a:r>
          </a:p>
          <a:p>
            <a:pPr>
              <a:spcAft>
                <a:spcPts val="500"/>
              </a:spcAft>
            </a:pPr>
            <a:r>
              <a:rPr sz="1250" b="1">
                <a:solidFill>
                  <a:srgbClr val="231F2E"/>
                </a:solidFill>
                <a:latin typeface="Arial"/>
              </a:rPr>
              <a:t>•  PM1 · Onboarding</a:t>
            </a:r>
            <a:r>
              <a:rPr sz="1250">
                <a:solidFill>
                  <a:srgbClr val="231F2E"/>
                </a:solidFill>
                <a:latin typeface="Arial"/>
              </a:rPr>
              <a:t>, activation and the onboarding experience</a:t>
            </a:r>
          </a:p>
          <a:p>
            <a:pPr>
              <a:spcAft>
                <a:spcPts val="500"/>
              </a:spcAft>
            </a:pPr>
            <a:r>
              <a:rPr sz="1250" b="1">
                <a:solidFill>
                  <a:srgbClr val="231F2E"/>
                </a:solidFill>
                <a:latin typeface="Arial"/>
              </a:rPr>
              <a:t>•  PM2 · Retention</a:t>
            </a:r>
            <a:r>
              <a:rPr sz="1250">
                <a:solidFill>
                  <a:srgbClr val="231F2E"/>
                </a:solidFill>
                <a:latin typeface="Arial"/>
              </a:rPr>
              <a:t>, re-engagement journeys and notification strategy</a:t>
            </a:r>
          </a:p>
          <a:p>
            <a:pPr>
              <a:spcAft>
                <a:spcPts val="500"/>
              </a:spcAft>
            </a:pPr>
            <a:r>
              <a:rPr sz="1250" b="1">
                <a:solidFill>
                  <a:srgbClr val="231F2E"/>
                </a:solidFill>
                <a:latin typeface="Arial"/>
              </a:rPr>
              <a:t>•  PM3 · AI Check-ins</a:t>
            </a:r>
            <a:r>
              <a:rPr sz="1250">
                <a:solidFill>
                  <a:srgbClr val="231F2E"/>
                </a:solidFill>
                <a:latin typeface="Arial"/>
              </a:rPr>
              <a:t>, personalization engine and wellness memory</a:t>
            </a:r>
          </a:p>
        </p:txBody>
      </p:sp>
      <p:sp>
        <p:nvSpPr>
          <p:cNvPr id="10" name="Rounded Rectangle 9"/>
          <p:cNvSpPr/>
          <p:nvPr/>
        </p:nvSpPr>
        <p:spPr>
          <a:xfrm>
            <a:off x="6199632" y="2103120"/>
            <a:ext cx="5440680" cy="2286000"/>
          </a:xfrm>
          <a:prstGeom prst="roundRect">
            <a:avLst>
              <a:gd name="adj" fmla="val 6000"/>
            </a:avLst>
          </a:prstGeom>
          <a:solidFill>
            <a:srgbClr val="FFFFFF"/>
          </a:solidFill>
          <a:ln w="12700">
            <a:solidFill>
              <a:srgbClr val="DD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2240280"/>
            <a:ext cx="4937760" cy="320040"/>
          </a:xfrm>
          <a:prstGeom prst="rect">
            <a:avLst/>
          </a:prstGeom>
          <a:noFill/>
        </p:spPr>
        <p:txBody>
          <a:bodyPr wrap="square" anchor="t">
            <a:spAutoFit/>
          </a:bodyPr>
          <a:lstStyle/>
          <a:p>
            <a:pPr algn="l">
              <a:spcAft>
                <a:spcPts val="400"/>
              </a:spcAft>
            </a:pPr>
            <a:r>
              <a:rPr sz="1100" b="1" i="0">
                <a:solidFill>
                  <a:srgbClr val="C99B5F"/>
                </a:solidFill>
                <a:latin typeface="Arial"/>
              </a:rPr>
              <a:t>OUT OF SCOPE, BY DESIGN</a:t>
            </a:r>
          </a:p>
        </p:txBody>
      </p:sp>
      <p:sp>
        <p:nvSpPr>
          <p:cNvPr id="12" name="TextBox 11"/>
          <p:cNvSpPr txBox="1"/>
          <p:nvPr/>
        </p:nvSpPr>
        <p:spPr>
          <a:xfrm>
            <a:off x="6428232" y="2578608"/>
            <a:ext cx="4983480" cy="1737360"/>
          </a:xfrm>
          <a:prstGeom prst="rect">
            <a:avLst/>
          </a:prstGeom>
          <a:noFill/>
        </p:spPr>
        <p:txBody>
          <a:bodyPr wrap="square">
            <a:spAutoFit/>
          </a:bodyPr>
          <a:lstStyle/>
          <a:p>
            <a:pPr>
              <a:spcAft>
                <a:spcPts val="500"/>
              </a:spcAft>
            </a:pPr>
            <a:r>
              <a:rPr sz="1250" b="1">
                <a:solidFill>
                  <a:srgbClr val="231F2E"/>
                </a:solidFill>
                <a:latin typeface="Arial"/>
              </a:rPr>
              <a:t>•  Engagement-first growth</a:t>
            </a:r>
            <a:r>
              <a:rPr sz="1250">
                <a:solidFill>
                  <a:srgbClr val="231F2E"/>
                </a:solidFill>
                <a:latin typeface="Arial"/>
              </a:rPr>
              <a:t>, DAU, streaks, session frequency, pressure loops</a:t>
            </a:r>
          </a:p>
          <a:p>
            <a:pPr>
              <a:spcAft>
                <a:spcPts val="500"/>
              </a:spcAft>
            </a:pPr>
            <a:r>
              <a:rPr sz="1250" b="1">
                <a:solidFill>
                  <a:srgbClr val="231F2E"/>
                </a:solidFill>
                <a:latin typeface="Arial"/>
              </a:rPr>
              <a:t>•  Content platform bets</a:t>
            </a:r>
            <a:r>
              <a:rPr sz="1250">
                <a:solidFill>
                  <a:srgbClr val="231F2E"/>
                </a:solidFill>
                <a:latin typeface="Arial"/>
              </a:rPr>
              <a:t> and clinical care delivery</a:t>
            </a:r>
          </a:p>
          <a:p>
            <a:pPr>
              <a:spcAft>
                <a:spcPts val="500"/>
              </a:spcAft>
            </a:pPr>
            <a:r>
              <a:rPr sz="1250" b="1">
                <a:solidFill>
                  <a:srgbClr val="231F2E"/>
                </a:solidFill>
                <a:latin typeface="Arial"/>
              </a:rPr>
              <a:t>•  B2B / employer products</a:t>
            </a:r>
            <a:r>
              <a:rPr sz="1250">
                <a:solidFill>
                  <a:srgbClr val="231F2E"/>
                </a:solidFill>
                <a:latin typeface="Arial"/>
              </a:rPr>
              <a:t> and new-market expansion untested by the retention model</a:t>
            </a:r>
          </a:p>
          <a:p>
            <a:pPr>
              <a:spcAft>
                <a:spcPts val="500"/>
              </a:spcAft>
            </a:pPr>
            <a:r>
              <a:rPr sz="1250" b="1">
                <a:solidFill>
                  <a:srgbClr val="231F2E"/>
                </a:solidFill>
                <a:latin typeface="Arial"/>
              </a:rPr>
              <a:t>•  Platform expansion for its own sake</a:t>
            </a:r>
            <a:r>
              <a:rPr sz="1250">
                <a:solidFill>
                  <a:srgbClr val="231F2E"/>
                </a:solidFill>
                <a:latin typeface="Arial"/>
              </a:rPr>
              <a:t>, web, wearables, integrations without KR evidence</a:t>
            </a:r>
          </a:p>
        </p:txBody>
      </p:sp>
      <p:sp>
        <p:nvSpPr>
          <p:cNvPr id="13" name="Rounded Rectangle 12"/>
          <p:cNvSpPr/>
          <p:nvPr/>
        </p:nvSpPr>
        <p:spPr>
          <a:xfrm>
            <a:off x="548640" y="4617720"/>
            <a:ext cx="11091672" cy="1783080"/>
          </a:xfrm>
          <a:prstGeom prst="roundRect">
            <a:avLst>
              <a:gd name="adj" fmla="val 6000"/>
            </a:avLst>
          </a:prstGeom>
          <a:solidFill>
            <a:srgbClr val="4A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754880"/>
            <a:ext cx="10607040" cy="320040"/>
          </a:xfrm>
          <a:prstGeom prst="rect">
            <a:avLst/>
          </a:prstGeom>
          <a:noFill/>
        </p:spPr>
        <p:txBody>
          <a:bodyPr wrap="square" anchor="t">
            <a:spAutoFit/>
          </a:bodyPr>
          <a:lstStyle/>
          <a:p>
            <a:pPr algn="l">
              <a:spcAft>
                <a:spcPts val="400"/>
              </a:spcAft>
            </a:pPr>
            <a:r>
              <a:rPr sz="1100" b="1" i="0">
                <a:solidFill>
                  <a:srgbClr val="C99B5F"/>
                </a:solidFill>
                <a:latin typeface="Arial"/>
              </a:rPr>
              <a:t>HOW WE DECIDE</a:t>
            </a:r>
          </a:p>
        </p:txBody>
      </p:sp>
      <p:sp>
        <p:nvSpPr>
          <p:cNvPr id="15" name="TextBox 14"/>
          <p:cNvSpPr txBox="1"/>
          <p:nvPr/>
        </p:nvSpPr>
        <p:spPr>
          <a:xfrm>
            <a:off x="777240" y="5074920"/>
            <a:ext cx="10607040" cy="1234440"/>
          </a:xfrm>
          <a:prstGeom prst="rect">
            <a:avLst/>
          </a:prstGeom>
          <a:noFill/>
        </p:spPr>
        <p:txBody>
          <a:bodyPr wrap="square">
            <a:spAutoFit/>
          </a:bodyPr>
          <a:lstStyle/>
          <a:p>
            <a:pPr>
              <a:spcAft>
                <a:spcPts val="500"/>
              </a:spcAft>
            </a:pPr>
            <a:r>
              <a:rPr sz="1250" b="1">
                <a:solidFill>
                  <a:srgbClr val="FFFFFF"/>
                </a:solidFill>
                <a:latin typeface="Arial"/>
              </a:rPr>
              <a:t>•  Default: </a:t>
            </a:r>
            <a:r>
              <a:rPr sz="1250">
                <a:solidFill>
                  <a:srgbClr val="FFFFFF"/>
                </a:solidFill>
                <a:latin typeface="Arial"/>
              </a:rPr>
              <a:t>PMs decide collaboratively or defer to the correct PM; unresolved calls escalate to the Core Product Lead, decision within 3 business days (1 week if quarterly commitments are affected).</a:t>
            </a:r>
          </a:p>
          <a:p>
            <a:pPr>
              <a:spcAft>
                <a:spcPts val="500"/>
              </a:spcAft>
            </a:pPr>
            <a:r>
              <a:rPr sz="1250" b="1">
                <a:solidFill>
                  <a:srgbClr val="FFFFFF"/>
                </a:solidFill>
                <a:latin typeface="Arial"/>
              </a:rPr>
              <a:t>•  Joint calls: </a:t>
            </a:r>
            <a:r>
              <a:rPr sz="1250">
                <a:solidFill>
                  <a:srgbClr val="FFFFFF"/>
                </a:solidFill>
                <a:latin typeface="Arial"/>
              </a:rPr>
              <a:t>anything touching wellness memory, user data, or personalization rules, all three PMs, with Privacy and Legal. Safety, legal, and regulatory requirements are non-negotiable.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320040"/>
          </a:xfrm>
          <a:prstGeom prst="rect">
            <a:avLst/>
          </a:prstGeom>
          <a:noFill/>
        </p:spPr>
        <p:txBody>
          <a:bodyPr wrap="square" anchor="t">
            <a:spAutoFit/>
          </a:bodyPr>
          <a:lstStyle/>
          <a:p>
            <a:pPr algn="l">
              <a:spcAft>
                <a:spcPts val="400"/>
              </a:spcAft>
            </a:pPr>
            <a:r>
              <a:rPr sz="1200" b="1" i="0">
                <a:solidFill>
                  <a:srgbClr val="C99B5F"/>
                </a:solidFill>
                <a:latin typeface="Arial"/>
              </a:rPr>
              <a:t>MODULE 5 · FINANCIAL MODEL</a:t>
            </a:r>
          </a:p>
        </p:txBody>
      </p:sp>
      <p:sp>
        <p:nvSpPr>
          <p:cNvPr id="4" name="TextBox 3"/>
          <p:cNvSpPr txBox="1"/>
          <p:nvPr/>
        </p:nvSpPr>
        <p:spPr>
          <a:xfrm>
            <a:off x="548640" y="621792"/>
            <a:ext cx="11064240" cy="685800"/>
          </a:xfrm>
          <a:prstGeom prst="rect">
            <a:avLst/>
          </a:prstGeom>
          <a:noFill/>
        </p:spPr>
        <p:txBody>
          <a:bodyPr wrap="square" anchor="t">
            <a:spAutoFit/>
          </a:bodyPr>
          <a:lstStyle/>
          <a:p>
            <a:pPr algn="l">
              <a:spcAft>
                <a:spcPts val="400"/>
              </a:spcAft>
            </a:pPr>
            <a:r>
              <a:rPr sz="3000" b="1" i="0">
                <a:solidFill>
                  <a:srgbClr val="4A3357"/>
                </a:solidFill>
                <a:latin typeface="Georgia"/>
              </a:rPr>
              <a:t>The bet: monetize the asset only Fable has</a:t>
            </a:r>
          </a:p>
        </p:txBody>
      </p:sp>
      <p:sp>
        <p:nvSpPr>
          <p:cNvPr id="5" name="Rectangle 4"/>
          <p:cNvSpPr/>
          <p:nvPr/>
        </p:nvSpPr>
        <p:spPr>
          <a:xfrm>
            <a:off x="548640" y="1298448"/>
            <a:ext cx="11091672" cy="31750"/>
          </a:xfrm>
          <a:prstGeom prst="rect">
            <a:avLst/>
          </a:prstGeom>
          <a:solidFill>
            <a:srgbClr val="C99B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63040"/>
            <a:ext cx="11091672" cy="548640"/>
          </a:xfrm>
          <a:prstGeom prst="rect">
            <a:avLst/>
          </a:prstGeom>
          <a:noFill/>
        </p:spPr>
        <p:txBody>
          <a:bodyPr wrap="square" anchor="t">
            <a:spAutoFit/>
          </a:bodyPr>
          <a:lstStyle/>
          <a:p>
            <a:pPr algn="l">
              <a:spcAft>
                <a:spcPts val="400"/>
              </a:spcAft>
            </a:pPr>
            <a:r>
              <a:rPr sz="1300" b="0" i="0">
                <a:solidFill>
                  <a:srgbClr val="231F2E"/>
                </a:solidFill>
                <a:latin typeface="Arial"/>
              </a:rPr>
              <a:t>Generic wellness advice is free from every competitor. The alternatives don't fix the leak, acquisition pours users into the same bucket at $54 a head, and human coaching personalizes but can't scale. Rock #2 (personalized support using wellness memory) raises the value of users we already paid to acquire.</a:t>
            </a:r>
          </a:p>
        </p:txBody>
      </p:sp>
      <p:graphicFrame>
        <p:nvGraphicFramePr>
          <p:cNvPr id="7" name="Table 6"/>
          <p:cNvGraphicFramePr>
            <a:graphicFrameLocks noGrp="1"/>
          </p:cNvGraphicFramePr>
          <p:nvPr/>
        </p:nvGraphicFramePr>
        <p:xfrm>
          <a:off x="548640" y="2240280"/>
          <a:ext cx="11091672" cy="1554480"/>
        </p:xfrm>
        <a:graphic>
          <a:graphicData uri="http://schemas.openxmlformats.org/drawingml/2006/table">
            <a:tbl>
              <a:tblPr firstRow="1" bandRow="1">
                <a:tableStyleId>{5C22544A-7EE6-4342-B048-85BDC9FD1C3A}</a:tableStyleId>
              </a:tblPr>
              <a:tblGrid>
                <a:gridCol w="1600200"/>
                <a:gridCol w="2057400"/>
                <a:gridCol w="2331720"/>
                <a:gridCol w="2514600"/>
                <a:gridCol w="1417320"/>
                <a:gridCol w="1170432"/>
              </a:tblGrid>
              <a:tr h="777240">
                <a:tc>
                  <a:txBody>
                    <a:bodyPr/>
                    <a:lstStyle/>
                    <a:p>
                      <a:r>
                        <a:rPr sz="1200" b="1">
                          <a:solidFill>
                            <a:srgbClr val="FFFFFF"/>
                          </a:solidFill>
                          <a:latin typeface="Arial"/>
                        </a:rPr>
                        <a:t>CAC</a:t>
                      </a:r>
                    </a:p>
                  </a:txBody>
                  <a:tcPr>
                    <a:solidFill>
                      <a:srgbClr val="6D4C7D"/>
                    </a:solidFill>
                  </a:tcPr>
                </a:tc>
                <a:tc>
                  <a:txBody>
                    <a:bodyPr/>
                    <a:lstStyle/>
                    <a:p>
                      <a:r>
                        <a:rPr sz="1200" b="1">
                          <a:solidFill>
                            <a:srgbClr val="FFFFFF"/>
                          </a:solidFill>
                          <a:latin typeface="Arial"/>
                        </a:rPr>
                        <a:t>LTV</a:t>
                      </a:r>
                    </a:p>
                  </a:txBody>
                  <a:tcPr>
                    <a:solidFill>
                      <a:srgbClr val="6D4C7D"/>
                    </a:solidFill>
                  </a:tcPr>
                </a:tc>
                <a:tc>
                  <a:txBody>
                    <a:bodyPr/>
                    <a:lstStyle/>
                    <a:p>
                      <a:r>
                        <a:rPr sz="1200" b="1">
                          <a:solidFill>
                            <a:srgbClr val="FFFFFF"/>
                          </a:solidFill>
                          <a:latin typeface="Arial"/>
                        </a:rPr>
                        <a:t>Investment</a:t>
                      </a:r>
                    </a:p>
                  </a:txBody>
                  <a:tcPr>
                    <a:solidFill>
                      <a:srgbClr val="6D4C7D"/>
                    </a:solidFill>
                  </a:tcPr>
                </a:tc>
                <a:tc>
                  <a:txBody>
                    <a:bodyPr/>
                    <a:lstStyle/>
                    <a:p>
                      <a:r>
                        <a:rPr sz="1200" b="1">
                          <a:solidFill>
                            <a:srgbClr val="FFFFFF"/>
                          </a:solidFill>
                          <a:latin typeface="Arial"/>
                        </a:rPr>
                        <a:t>Expected return</a:t>
                      </a:r>
                    </a:p>
                  </a:txBody>
                  <a:tcPr>
                    <a:solidFill>
                      <a:srgbClr val="6D4C7D"/>
                    </a:solidFill>
                  </a:tcPr>
                </a:tc>
                <a:tc>
                  <a:txBody>
                    <a:bodyPr/>
                    <a:lstStyle/>
                    <a:p>
                      <a:r>
                        <a:rPr sz="1200" b="1">
                          <a:solidFill>
                            <a:srgbClr val="FFFFFF"/>
                          </a:solidFill>
                          <a:latin typeface="Arial"/>
                        </a:rPr>
                        <a:t>Payback</a:t>
                      </a:r>
                    </a:p>
                  </a:txBody>
                  <a:tcPr>
                    <a:solidFill>
                      <a:srgbClr val="6D4C7D"/>
                    </a:solidFill>
                  </a:tcPr>
                </a:tc>
                <a:tc>
                  <a:txBody>
                    <a:bodyPr/>
                    <a:lstStyle/>
                    <a:p>
                      <a:r>
                        <a:rPr sz="1200" b="1">
                          <a:solidFill>
                            <a:srgbClr val="FFFFFF"/>
                          </a:solidFill>
                          <a:latin typeface="Arial"/>
                        </a:rPr>
                        <a:t>Return multiple</a:t>
                      </a:r>
                    </a:p>
                  </a:txBody>
                  <a:tcPr>
                    <a:solidFill>
                      <a:srgbClr val="6D4C7D"/>
                    </a:solidFill>
                  </a:tcPr>
                </a:tc>
              </a:tr>
              <a:tr h="777240">
                <a:tc>
                  <a:txBody>
                    <a:bodyPr/>
                    <a:lstStyle/>
                    <a:p>
                      <a:r>
                        <a:rPr sz="1250" b="1">
                          <a:solidFill>
                            <a:srgbClr val="231F2E"/>
                          </a:solidFill>
                          <a:latin typeface="Arial"/>
                        </a:rPr>
                        <a:t>$54, unchanged</a:t>
                      </a:r>
                    </a:p>
                  </a:txBody>
                  <a:tcPr>
                    <a:solidFill>
                      <a:srgbClr val="FFFFFF"/>
                    </a:solidFill>
                  </a:tcPr>
                </a:tc>
                <a:tc>
                  <a:txBody>
                    <a:bodyPr/>
                    <a:lstStyle/>
                    <a:p>
                      <a:r>
                        <a:rPr sz="1250" b="1">
                          <a:solidFill>
                            <a:srgbClr val="231F2E"/>
                          </a:solidFill>
                          <a:latin typeface="Arial"/>
                        </a:rPr>
                        <a:t>$118 to $171 (+45%)</a:t>
                      </a:r>
                    </a:p>
                  </a:txBody>
                  <a:tcPr>
                    <a:solidFill>
                      <a:srgbClr val="FFFFFF"/>
                    </a:solidFill>
                  </a:tcPr>
                </a:tc>
                <a:tc>
                  <a:txBody>
                    <a:bodyPr/>
                    <a:lstStyle/>
                    <a:p>
                      <a:r>
                        <a:rPr sz="1250" b="1">
                          <a:solidFill>
                            <a:srgbClr val="231F2E"/>
                          </a:solidFill>
                          <a:latin typeface="Arial"/>
                        </a:rPr>
                        <a:t>$210K, one quarter of the pod</a:t>
                      </a:r>
                    </a:p>
                  </a:txBody>
                  <a:tcPr>
                    <a:solidFill>
                      <a:srgbClr val="FFFFFF"/>
                    </a:solidFill>
                  </a:tcPr>
                </a:tc>
                <a:tc>
                  <a:txBody>
                    <a:bodyPr/>
                    <a:lstStyle/>
                    <a:p>
                      <a:r>
                        <a:rPr sz="1250" b="1">
                          <a:solidFill>
                            <a:srgbClr val="231F2E"/>
                          </a:solidFill>
                          <a:latin typeface="Arial"/>
                        </a:rPr>
                        <a:t>~$690K incremental annual revenue</a:t>
                      </a:r>
                    </a:p>
                  </a:txBody>
                  <a:tcPr>
                    <a:solidFill>
                      <a:srgbClr val="FFFFFF"/>
                    </a:solidFill>
                  </a:tcPr>
                </a:tc>
                <a:tc>
                  <a:txBody>
                    <a:bodyPr/>
                    <a:lstStyle/>
                    <a:p>
                      <a:r>
                        <a:rPr sz="1250" b="1">
                          <a:solidFill>
                            <a:srgbClr val="231F2E"/>
                          </a:solidFill>
                          <a:latin typeface="Arial"/>
                        </a:rPr>
                        <a:t>Within ~2 quarters</a:t>
                      </a:r>
                    </a:p>
                  </a:txBody>
                  <a:tcPr>
                    <a:solidFill>
                      <a:srgbClr val="FFFFFF"/>
                    </a:solidFill>
                  </a:tcPr>
                </a:tc>
                <a:tc>
                  <a:txBody>
                    <a:bodyPr/>
                    <a:lstStyle/>
                    <a:p>
                      <a:r>
                        <a:rPr sz="1250" b="1">
                          <a:solidFill>
                            <a:srgbClr val="231F2E"/>
                          </a:solidFill>
                          <a:latin typeface="Arial"/>
                        </a:rPr>
                        <a:t>~3.3× first-year</a:t>
                      </a:r>
                    </a:p>
                  </a:txBody>
                  <a:tcPr>
                    <a:solidFill>
                      <a:srgbClr val="FFFFFF"/>
                    </a:solidFill>
                  </a:tcPr>
                </a:tc>
              </a:tr>
            </a:tbl>
          </a:graphicData>
        </a:graphic>
      </p:graphicFrame>
      <p:sp>
        <p:nvSpPr>
          <p:cNvPr id="8" name="TextBox 7"/>
          <p:cNvSpPr txBox="1"/>
          <p:nvPr/>
        </p:nvSpPr>
        <p:spPr>
          <a:xfrm>
            <a:off x="548640" y="3950208"/>
            <a:ext cx="11091672" cy="320040"/>
          </a:xfrm>
          <a:prstGeom prst="rect">
            <a:avLst/>
          </a:prstGeom>
          <a:noFill/>
        </p:spPr>
        <p:txBody>
          <a:bodyPr wrap="square" anchor="t">
            <a:spAutoFit/>
          </a:bodyPr>
          <a:lstStyle/>
          <a:p>
            <a:pPr algn="l">
              <a:spcAft>
                <a:spcPts val="400"/>
              </a:spcAft>
            </a:pPr>
            <a:r>
              <a:rPr sz="1150" b="0" i="1">
                <a:solidFill>
                  <a:srgbClr val="5C5666"/>
                </a:solidFill>
                <a:latin typeface="Arial"/>
              </a:rPr>
              <a:t>Modeled assumptions, flagged as such: ~52,000 users/year complete an acute episode; a 25-point re-engagement lift ≈ 13,000 additional retained users × $53 LTV lift. AI inference ≈ $0.90 per active user/month.</a:t>
            </a:r>
          </a:p>
        </p:txBody>
      </p:sp>
      <p:sp>
        <p:nvSpPr>
          <p:cNvPr id="9" name="Rounded Rectangle 8"/>
          <p:cNvSpPr/>
          <p:nvPr/>
        </p:nvSpPr>
        <p:spPr>
          <a:xfrm>
            <a:off x="548640" y="4434840"/>
            <a:ext cx="11091672" cy="1965960"/>
          </a:xfrm>
          <a:prstGeom prst="roundRect">
            <a:avLst>
              <a:gd name="adj" fmla="val 6000"/>
            </a:avLst>
          </a:prstGeom>
          <a:solidFill>
            <a:srgbClr val="FFFFFF"/>
          </a:solidFill>
          <a:ln w="12700">
            <a:solidFill>
              <a:srgbClr val="DD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572000"/>
            <a:ext cx="10607040" cy="320040"/>
          </a:xfrm>
          <a:prstGeom prst="rect">
            <a:avLst/>
          </a:prstGeom>
          <a:noFill/>
        </p:spPr>
        <p:txBody>
          <a:bodyPr wrap="square" anchor="t">
            <a:spAutoFit/>
          </a:bodyPr>
          <a:lstStyle/>
          <a:p>
            <a:pPr algn="l">
              <a:spcAft>
                <a:spcPts val="400"/>
              </a:spcAft>
            </a:pPr>
            <a:r>
              <a:rPr sz="1100" b="1" i="0">
                <a:solidFill>
                  <a:srgbClr val="C99B5F"/>
                </a:solidFill>
                <a:latin typeface="Arial"/>
              </a:rPr>
              <a:t>KILL CRITERIA, WRITTEN BEFORE LAUNCH, NOT NEGOTIATED AFTER</a:t>
            </a:r>
          </a:p>
        </p:txBody>
      </p:sp>
      <p:sp>
        <p:nvSpPr>
          <p:cNvPr id="11" name="TextBox 10"/>
          <p:cNvSpPr txBox="1"/>
          <p:nvPr/>
        </p:nvSpPr>
        <p:spPr>
          <a:xfrm>
            <a:off x="777240" y="4910328"/>
            <a:ext cx="10607040" cy="1417320"/>
          </a:xfrm>
          <a:prstGeom prst="rect">
            <a:avLst/>
          </a:prstGeom>
          <a:noFill/>
        </p:spPr>
        <p:txBody>
          <a:bodyPr wrap="square">
            <a:spAutoFit/>
          </a:bodyPr>
          <a:lstStyle/>
          <a:p>
            <a:pPr>
              <a:spcAft>
                <a:spcPts val="300"/>
              </a:spcAft>
            </a:pPr>
            <a:r>
              <a:rPr sz="1250" b="1">
                <a:solidFill>
                  <a:srgbClr val="231F2E"/>
                </a:solidFill>
                <a:latin typeface="Arial"/>
              </a:rPr>
              <a:t>•  KR1 below 52% by June 30, 2027: </a:t>
            </a:r>
            <a:r>
              <a:rPr sz="1250">
                <a:solidFill>
                  <a:srgbClr val="231F2E"/>
                </a:solidFill>
                <a:latin typeface="Arial"/>
              </a:rPr>
              <a:t>stop personalization development; revert to the standard check-in cadence.</a:t>
            </a:r>
          </a:p>
          <a:p>
            <a:pPr>
              <a:spcAft>
                <a:spcPts val="300"/>
              </a:spcAft>
            </a:pPr>
            <a:r>
              <a:rPr sz="1250" b="1">
                <a:solidFill>
                  <a:srgbClr val="231F2E"/>
                </a:solidFill>
                <a:latin typeface="Arial"/>
              </a:rPr>
              <a:t>•  KR2 below 35% by June 30, 2027: </a:t>
            </a:r>
            <a:r>
              <a:rPr sz="1250">
                <a:solidFill>
                  <a:srgbClr val="231F2E"/>
                </a:solidFill>
                <a:latin typeface="Arial"/>
              </a:rPr>
              <a:t>kill AI-generated prompts; redirect the pod to Rock #1 (re-engagement timing).</a:t>
            </a:r>
          </a:p>
          <a:p>
            <a:pPr>
              <a:spcAft>
                <a:spcPts val="300"/>
              </a:spcAft>
            </a:pPr>
            <a:r>
              <a:rPr sz="1250" b="1">
                <a:solidFill>
                  <a:srgbClr val="231F2E"/>
                </a:solidFill>
                <a:latin typeface="Arial"/>
              </a:rPr>
              <a:t>•  KR3 up fewer than 5 points by September 30, 2027: </a:t>
            </a:r>
            <a:r>
              <a:rPr sz="1250">
                <a:solidFill>
                  <a:srgbClr val="231F2E"/>
                </a:solidFill>
                <a:latin typeface="Arial"/>
              </a:rPr>
              <a:t>stop funding this rock; reallocate the pod to the next strategic bet.</a:t>
            </a:r>
          </a:p>
          <a:p>
            <a:pPr>
              <a:spcAft>
                <a:spcPts val="300"/>
              </a:spcAft>
            </a:pPr>
            <a:r>
              <a:rPr sz="1250" b="1">
                <a:solidFill>
                  <a:srgbClr val="231F2E"/>
                </a:solidFill>
                <a:latin typeface="Arial"/>
              </a:rPr>
              <a:t>•  Guardrail, overrides everything: </a:t>
            </a:r>
            <a:r>
              <a:rPr sz="1250">
                <a:solidFill>
                  <a:srgbClr val="231F2E"/>
                </a:solidFill>
                <a:latin typeface="Arial"/>
              </a:rPr>
              <a:t>complaints or opt-outs above 2% in any month pause the AI prompts immediately.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320040"/>
          </a:xfrm>
          <a:prstGeom prst="rect">
            <a:avLst/>
          </a:prstGeom>
          <a:noFill/>
        </p:spPr>
        <p:txBody>
          <a:bodyPr wrap="square" anchor="t">
            <a:spAutoFit/>
          </a:bodyPr>
          <a:lstStyle/>
          <a:p>
            <a:pPr algn="l">
              <a:spcAft>
                <a:spcPts val="400"/>
              </a:spcAft>
            </a:pPr>
            <a:r>
              <a:rPr sz="1200" b="1" i="0">
                <a:solidFill>
                  <a:srgbClr val="C99B5F"/>
                </a:solidFill>
                <a:latin typeface="Arial"/>
              </a:rPr>
              <a:t>MODULE 6 · INDIVIDUAL INSIGHTS</a:t>
            </a:r>
          </a:p>
        </p:txBody>
      </p:sp>
      <p:sp>
        <p:nvSpPr>
          <p:cNvPr id="4" name="TextBox 3"/>
          <p:cNvSpPr txBox="1"/>
          <p:nvPr/>
        </p:nvSpPr>
        <p:spPr>
          <a:xfrm>
            <a:off x="548640" y="621792"/>
            <a:ext cx="11064240" cy="685800"/>
          </a:xfrm>
          <a:prstGeom prst="rect">
            <a:avLst/>
          </a:prstGeom>
          <a:noFill/>
        </p:spPr>
        <p:txBody>
          <a:bodyPr wrap="square" anchor="t">
            <a:spAutoFit/>
          </a:bodyPr>
          <a:lstStyle/>
          <a:p>
            <a:pPr algn="l">
              <a:spcAft>
                <a:spcPts val="400"/>
              </a:spcAft>
            </a:pPr>
            <a:r>
              <a:rPr sz="3000" b="1" i="0">
                <a:solidFill>
                  <a:srgbClr val="4A3357"/>
                </a:solidFill>
                <a:latin typeface="Georgia"/>
              </a:rPr>
              <a:t>What building this strategy changed</a:t>
            </a:r>
          </a:p>
        </p:txBody>
      </p:sp>
      <p:sp>
        <p:nvSpPr>
          <p:cNvPr id="5" name="Rectangle 4"/>
          <p:cNvSpPr/>
          <p:nvPr/>
        </p:nvSpPr>
        <p:spPr>
          <a:xfrm>
            <a:off x="548640" y="1298448"/>
            <a:ext cx="11091672" cy="31750"/>
          </a:xfrm>
          <a:prstGeom prst="rect">
            <a:avLst/>
          </a:prstGeom>
          <a:solidFill>
            <a:srgbClr val="C99B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554480"/>
            <a:ext cx="5440680" cy="3017520"/>
          </a:xfrm>
          <a:prstGeom prst="roundRect">
            <a:avLst>
              <a:gd name="adj" fmla="val 6000"/>
            </a:avLst>
          </a:prstGeom>
          <a:solidFill>
            <a:srgbClr val="FFFFFF"/>
          </a:solidFill>
          <a:ln w="12700">
            <a:solidFill>
              <a:srgbClr val="DD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4937760" cy="320040"/>
          </a:xfrm>
          <a:prstGeom prst="rect">
            <a:avLst/>
          </a:prstGeom>
          <a:noFill/>
        </p:spPr>
        <p:txBody>
          <a:bodyPr wrap="square" anchor="t">
            <a:spAutoFit/>
          </a:bodyPr>
          <a:lstStyle/>
          <a:p>
            <a:pPr algn="l">
              <a:spcAft>
                <a:spcPts val="400"/>
              </a:spcAft>
            </a:pPr>
            <a:r>
              <a:rPr sz="1100" b="1" i="0">
                <a:solidFill>
                  <a:srgbClr val="C99B5F"/>
                </a:solidFill>
                <a:latin typeface="Arial"/>
              </a:rPr>
              <a:t>FRICTION</a:t>
            </a:r>
          </a:p>
        </p:txBody>
      </p:sp>
      <p:sp>
        <p:nvSpPr>
          <p:cNvPr id="8" name="TextBox 7"/>
          <p:cNvSpPr txBox="1"/>
          <p:nvPr/>
        </p:nvSpPr>
        <p:spPr>
          <a:xfrm>
            <a:off x="777240" y="2029968"/>
            <a:ext cx="4983480" cy="2377440"/>
          </a:xfrm>
          <a:prstGeom prst="rect">
            <a:avLst/>
          </a:prstGeom>
          <a:noFill/>
        </p:spPr>
        <p:txBody>
          <a:bodyPr wrap="square" anchor="t">
            <a:spAutoFit/>
          </a:bodyPr>
          <a:lstStyle/>
          <a:p>
            <a:pPr algn="l">
              <a:spcAft>
                <a:spcPts val="400"/>
              </a:spcAft>
            </a:pPr>
            <a:r>
              <a:rPr sz="1250" b="0" i="0">
                <a:solidFill>
                  <a:srgbClr val="231F2E"/>
                </a:solidFill>
                <a:latin typeface="Arial"/>
              </a:rPr>
              <a:t>The hardest part wasn't the strategy, it was turning "we collaborate" into decision rules that survive a real disagreement.</a:t>
            </a:r>
          </a:p>
          <a:p>
            <a:pPr algn="l">
              <a:spcAft>
                <a:spcPts val="400"/>
              </a:spcAft>
            </a:pPr>
            <a:r>
              <a:rPr sz="1250" b="0" i="0">
                <a:solidFill>
                  <a:srgbClr val="231F2E"/>
                </a:solidFill>
                <a:latin typeface="Arial"/>
              </a:rPr>
              <a:t/>
            </a:r>
          </a:p>
          <a:p>
            <a:pPr algn="l">
              <a:spcAft>
                <a:spcPts val="400"/>
              </a:spcAft>
            </a:pPr>
            <a:r>
              <a:rPr sz="1250" b="0" i="0">
                <a:solidFill>
                  <a:srgbClr val="231F2E"/>
                </a:solidFill>
                <a:latin typeface="Arial"/>
              </a:rPr>
              <a:t>The mission one-liner was the last blank in the charter. I worked through it by forcing one row per decision, a named default rule, and clocks on every escalation.</a:t>
            </a:r>
          </a:p>
          <a:p>
            <a:pPr algn="l">
              <a:spcAft>
                <a:spcPts val="400"/>
              </a:spcAft>
            </a:pPr>
            <a:r>
              <a:rPr sz="1250" b="0" i="0">
                <a:solidFill>
                  <a:srgbClr val="231F2E"/>
                </a:solidFill>
                <a:latin typeface="Arial"/>
              </a:rPr>
              <a:t/>
            </a:r>
          </a:p>
          <a:p>
            <a:pPr algn="l">
              <a:spcAft>
                <a:spcPts val="400"/>
              </a:spcAft>
            </a:pPr>
            <a:r>
              <a:rPr sz="1250" b="0" i="0">
                <a:solidFill>
                  <a:srgbClr val="231F2E"/>
                </a:solidFill>
                <a:latin typeface="Arial"/>
              </a:rPr>
              <a:t>The AI pressure test caught my KR3 measuring an output in disguise, it is now an outcome: successful re-engagement.</a:t>
            </a:r>
          </a:p>
        </p:txBody>
      </p:sp>
      <p:sp>
        <p:nvSpPr>
          <p:cNvPr id="9" name="Rounded Rectangle 8"/>
          <p:cNvSpPr/>
          <p:nvPr/>
        </p:nvSpPr>
        <p:spPr>
          <a:xfrm>
            <a:off x="6199632" y="1554480"/>
            <a:ext cx="5440680" cy="3017520"/>
          </a:xfrm>
          <a:prstGeom prst="roundRect">
            <a:avLst>
              <a:gd name="adj" fmla="val 6000"/>
            </a:avLst>
          </a:prstGeom>
          <a:solidFill>
            <a:srgbClr val="FFFFFF"/>
          </a:solidFill>
          <a:ln w="12700">
            <a:solidFill>
              <a:srgbClr val="DD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8232" y="1691640"/>
            <a:ext cx="4937760" cy="320040"/>
          </a:xfrm>
          <a:prstGeom prst="rect">
            <a:avLst/>
          </a:prstGeom>
          <a:noFill/>
        </p:spPr>
        <p:txBody>
          <a:bodyPr wrap="square" anchor="t">
            <a:spAutoFit/>
          </a:bodyPr>
          <a:lstStyle/>
          <a:p>
            <a:pPr algn="l">
              <a:spcAft>
                <a:spcPts val="400"/>
              </a:spcAft>
            </a:pPr>
            <a:r>
              <a:rPr sz="1100" b="1" i="0">
                <a:solidFill>
                  <a:srgbClr val="C99B5F"/>
                </a:solidFill>
                <a:latin typeface="Arial"/>
              </a:rPr>
              <a:t>KEY LEARNING</a:t>
            </a:r>
          </a:p>
        </p:txBody>
      </p:sp>
      <p:sp>
        <p:nvSpPr>
          <p:cNvPr id="11" name="TextBox 10"/>
          <p:cNvSpPr txBox="1"/>
          <p:nvPr/>
        </p:nvSpPr>
        <p:spPr>
          <a:xfrm>
            <a:off x="6428232" y="2029968"/>
            <a:ext cx="4983480" cy="2377440"/>
          </a:xfrm>
          <a:prstGeom prst="rect">
            <a:avLst/>
          </a:prstGeom>
          <a:noFill/>
        </p:spPr>
        <p:txBody>
          <a:bodyPr wrap="square" anchor="t">
            <a:spAutoFit/>
          </a:bodyPr>
          <a:lstStyle/>
          <a:p>
            <a:pPr algn="l">
              <a:spcAft>
                <a:spcPts val="400"/>
              </a:spcAft>
            </a:pPr>
            <a:r>
              <a:rPr sz="1250" b="0" i="0">
                <a:solidFill>
                  <a:srgbClr val="231F2E"/>
                </a:solidFill>
                <a:latin typeface="Arial"/>
              </a:rPr>
              <a:t>A charter is an operating tool, not documentation.</a:t>
            </a:r>
          </a:p>
          <a:p>
            <a:pPr algn="l">
              <a:spcAft>
                <a:spcPts val="400"/>
              </a:spcAft>
            </a:pPr>
            <a:r>
              <a:rPr sz="1250" b="0" i="0">
                <a:solidFill>
                  <a:srgbClr val="231F2E"/>
                </a:solidFill>
                <a:latin typeface="Arial"/>
              </a:rPr>
              <a:t/>
            </a:r>
          </a:p>
          <a:p>
            <a:pPr algn="l">
              <a:spcAft>
                <a:spcPts val="400"/>
              </a:spcAft>
            </a:pPr>
            <a:r>
              <a:rPr sz="1250" b="0" i="0">
                <a:solidFill>
                  <a:srgbClr val="231F2E"/>
                </a:solidFill>
                <a:latin typeface="Arial"/>
              </a:rPr>
              <a:t>I used to treat it as paperwork that follows the real decisions. This project reversed that: the charter's decision rules are the thing that makes every later decision faster.</a:t>
            </a:r>
          </a:p>
          <a:p>
            <a:pPr algn="l">
              <a:spcAft>
                <a:spcPts val="400"/>
              </a:spcAft>
            </a:pPr>
            <a:r>
              <a:rPr sz="1250" b="0" i="0">
                <a:solidFill>
                  <a:srgbClr val="231F2E"/>
                </a:solidFill>
                <a:latin typeface="Arial"/>
              </a:rPr>
              <a:t/>
            </a:r>
          </a:p>
          <a:p>
            <a:pPr algn="l">
              <a:spcAft>
                <a:spcPts val="400"/>
              </a:spcAft>
            </a:pPr>
            <a:r>
              <a:rPr sz="1250" b="0" i="0">
                <a:solidFill>
                  <a:srgbClr val="231F2E"/>
                </a:solidFill>
                <a:latin typeface="Arial"/>
              </a:rPr>
              <a:t>Same discipline everywhere: kill criteria written with the business case, modeled numbers flagged as modeled, and AI used as the devil's advocate before the room does it for you.</a:t>
            </a:r>
          </a:p>
        </p:txBody>
      </p:sp>
      <p:sp>
        <p:nvSpPr>
          <p:cNvPr id="12" name="Rounded Rectangle 11"/>
          <p:cNvSpPr/>
          <p:nvPr/>
        </p:nvSpPr>
        <p:spPr>
          <a:xfrm>
            <a:off x="548640" y="4800600"/>
            <a:ext cx="11091672" cy="1600200"/>
          </a:xfrm>
          <a:prstGeom prst="roundRect">
            <a:avLst>
              <a:gd name="adj" fmla="val 6000"/>
            </a:avLst>
          </a:prstGeom>
          <a:solidFill>
            <a:srgbClr val="4A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956048"/>
            <a:ext cx="10607040" cy="320040"/>
          </a:xfrm>
          <a:prstGeom prst="rect">
            <a:avLst/>
          </a:prstGeom>
          <a:noFill/>
        </p:spPr>
        <p:txBody>
          <a:bodyPr wrap="square" anchor="t">
            <a:spAutoFit/>
          </a:bodyPr>
          <a:lstStyle/>
          <a:p>
            <a:pPr algn="l">
              <a:spcAft>
                <a:spcPts val="400"/>
              </a:spcAft>
            </a:pPr>
            <a:r>
              <a:rPr sz="1100" b="1" i="0">
                <a:solidFill>
                  <a:srgbClr val="C99B5F"/>
                </a:solidFill>
                <a:latin typeface="Arial"/>
              </a:rPr>
              <a:t>THE AHA</a:t>
            </a:r>
          </a:p>
        </p:txBody>
      </p:sp>
      <p:sp>
        <p:nvSpPr>
          <p:cNvPr id="14" name="TextBox 13"/>
          <p:cNvSpPr txBox="1"/>
          <p:nvPr/>
        </p:nvSpPr>
        <p:spPr>
          <a:xfrm>
            <a:off x="777240" y="5285232"/>
            <a:ext cx="10607040" cy="1005840"/>
          </a:xfrm>
          <a:prstGeom prst="rect">
            <a:avLst/>
          </a:prstGeom>
          <a:noFill/>
        </p:spPr>
        <p:txBody>
          <a:bodyPr wrap="square" anchor="t">
            <a:spAutoFit/>
          </a:bodyPr>
          <a:lstStyle/>
          <a:p>
            <a:pPr algn="l">
              <a:spcAft>
                <a:spcPts val="400"/>
              </a:spcAft>
            </a:pPr>
            <a:r>
              <a:rPr sz="1500" b="1" i="0">
                <a:solidFill>
                  <a:srgbClr val="FFFFFF"/>
                </a:solidFill>
                <a:latin typeface="Arial"/>
              </a:rPr>
              <a:t>Churn is a success problem, not a failure problem. Users don't leave Fable because it failed, they leave because it worked. The acute need ends, and so does the relationship. That one realization reorganized the entire strategy around the moment after success.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